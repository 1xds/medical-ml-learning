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59" r:id="rId8"/>
    <p:sldId id="268" r:id="rId9"/>
    <p:sldId id="260" r:id="rId10"/>
    <p:sldId id="269" r:id="rId11"/>
    <p:sldId id="261" r:id="rId12"/>
    <p:sldId id="262" r:id="rId13"/>
    <p:sldId id="272" r:id="rId14"/>
    <p:sldId id="270" r:id="rId15"/>
    <p:sldId id="271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38878-58A3-63CD-1983-5EF2A6862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D35F61-6340-8532-3956-9B29F23AE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CFD537-27A1-64FD-B97B-42CA4FD0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CAD191-3EC3-5FA6-5FF1-58F7F8E31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EACB4-A983-6F64-7B30-33D6982E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39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3FC19-F75E-C81C-1DE5-0DB93D64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997551-42E8-5B31-A59A-7AED91CCA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41114-A238-45EE-94FE-EF3DECEAC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0C3050-E6E4-8644-4BF2-EBC80B34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A645E3-D750-5A10-E368-D139CC5C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55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AF28F-1C0C-DF5B-A9BA-07C6B76C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FD873C-014B-1D3D-3C30-253F02CC5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1E995-C566-E528-C2BA-D62093C8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7DC29-36B3-6144-81BB-1BD00DB22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35D575-E2CF-4105-F984-DD821EE4F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43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7E7BD5-A275-E53C-02E2-E1C804E6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5C0379-4C07-B3D7-BC55-230D375AA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005C88-8EC6-E71A-A340-FD55D8E6A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2AC5E6-F919-642B-D336-6307563A5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1D03A3-0280-EC5A-41B1-A77AC4FB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CD7AC2-4B7E-85DD-6BF0-8FBE6E18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78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3D9EC-D9E9-F21B-F7FE-7F726DBB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C36EA4-154E-F5D1-2836-77E5E098B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6B6967-456B-3C5B-0E3E-2CEFC716A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750409-0EC7-2257-1EB4-0D8B6DD4F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DC8BBB-1DF4-694B-0748-4E1727B89E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3AAB300-4114-6650-CDE0-9D8D5E29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3867E7-EFCA-44D2-042C-EDE25949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4C5709-7FE0-3F99-9216-FDE644CA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79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52ABE-EAF2-4025-C5ED-D56DF4DA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F052EB-976A-3AB0-5BF7-113CC92B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7457A9-0946-5036-AB56-E130D6D8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4DC5BA-F393-1B0E-3E23-D280CA4EC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49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9C3F13-6D37-404D-8DC9-8FCB5202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DCAD6B-CC1C-2608-A1AD-AE3B1BE2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4108E-80A9-CA93-E012-10132D43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511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C838D-D353-DE3A-AE2C-1F03B2BA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B058CC-0853-B31F-DC96-F8A5F6621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252DF8-D3B3-8820-C6A9-9A0B26FAB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75A9FC-177B-1CB2-3491-542DE691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006420-AEFB-3B0A-F77C-AC658C06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685B2E-B86A-7A02-B4A7-BBC6C41A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50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C659F-44F4-FE28-03AE-53E544493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82F8BEE-F706-9FB4-E8BE-9D513133F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18883D-17A4-065A-83ED-29FA20D83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F2C723-2508-CF83-5C0C-F5BFBC6B5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8A5182-0A5A-F0F8-652C-A94B3435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096AFB-5524-CC1D-49B3-4AA6C68A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768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23439-EBB8-1690-C9EB-92C3542C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EB9034-705A-DB89-D205-A56659662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918CF-BABB-26E5-D7BF-2E457577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65BA8-7BE1-2D72-9DC8-AEFDF8B0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F6103F-7D97-0174-00E7-A3229981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22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DB3A56-41F0-0FB3-1CD1-3A22158CF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6283B8-95E5-D58A-6366-179B88399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3B8462-5684-D7E2-BDF1-91079DCA3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B126A5-9514-DAEF-CCBC-72DCEDCD7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62016-94D7-1F2F-E02E-A171C91E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48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B3B8E2-08BE-0B76-5C79-7F67A4A8A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49897-25F4-A22E-CC56-DF5323F6F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2EB7DB-2EFE-F1CF-784B-ECC0C03C7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DD7F1-4157-4D4E-86AF-84412775011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61AC6-178A-CAD0-472A-4B22ADF8F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3DB35F-207C-BDD0-5776-DB17B52D1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17BA2-7602-4A4D-8559-CA922080ED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16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604DB74-D76A-BEAC-19EF-39AA3A87EAEE}"/>
              </a:ext>
            </a:extLst>
          </p:cNvPr>
          <p:cNvSpPr txBox="1"/>
          <p:nvPr/>
        </p:nvSpPr>
        <p:spPr>
          <a:xfrm>
            <a:off x="3048000" y="2951946"/>
            <a:ext cx="6289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zh-CN" sz="2800" b="1" dirty="0">
                <a:effectLst/>
                <a:latin typeface="Consolas" panose="020B0609020204030204" pitchFamily="49" charset="0"/>
              </a:rPr>
              <a:t>不同特征筛选策略对乳腺超声影像组学分类性能的影响</a:t>
            </a:r>
            <a:endParaRPr lang="zh-CN" altLang="zh-CN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87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6A985-B342-F618-C1DA-BC2954E2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BD1530A-05B0-950E-9C80-6999B0352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82" y="204268"/>
            <a:ext cx="11167635" cy="39973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DB5C5D4-E644-5EC6-8EFC-E55340033DB1}"/>
              </a:ext>
            </a:extLst>
          </p:cNvPr>
          <p:cNvSpPr txBox="1"/>
          <p:nvPr/>
        </p:nvSpPr>
        <p:spPr>
          <a:xfrm>
            <a:off x="923562" y="4463187"/>
            <a:ext cx="103448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Train/Test 分层划分</a:t>
            </a:r>
            <a:r>
              <a:rPr lang="zh-CN" altLang="zh-CN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（80/20，stratify by label）</a:t>
            </a:r>
          </a:p>
          <a:p>
            <a:pPr>
              <a:buNone/>
            </a:pPr>
            <a:r>
              <a:rPr lang="zh-CN" altLang="zh-CN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zh-CN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标准化</a:t>
            </a:r>
            <a:r>
              <a:rPr lang="zh-CN" altLang="zh-CN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（StandardScaler，fit on train only — 防止数据泄漏）</a:t>
            </a:r>
          </a:p>
          <a:p>
            <a:pPr>
              <a:buNone/>
            </a:pPr>
            <a:endParaRPr lang="zh-CN" altLang="zh-CN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zh-CN" sz="28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所有后续特征筛选步骤均在训练集上进行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B377FE-8458-F4F0-7A03-EDC9E3E31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523" y="5549908"/>
            <a:ext cx="4525006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84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7E4B-CC5E-3950-56E1-693AE65E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3158508-2A8B-F1E8-FD5F-AE6C0779AE20}"/>
              </a:ext>
            </a:extLst>
          </p:cNvPr>
          <p:cNvSpPr txBox="1"/>
          <p:nvPr/>
        </p:nvSpPr>
        <p:spPr>
          <a:xfrm>
            <a:off x="355600" y="297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1：Baseline（无筛选）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C6C946-3451-CB50-4BA8-02BC686BF091}"/>
              </a:ext>
            </a:extLst>
          </p:cNvPr>
          <p:cNvSpPr txBox="1"/>
          <p:nvPr/>
        </p:nvSpPr>
        <p:spPr>
          <a:xfrm>
            <a:off x="3048000" y="271641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3200" dirty="0"/>
              <a:t>对照组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180573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31E79-4C00-6449-537E-C9ABF4D28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255E825-85CD-0BE7-75FA-FC720190A12A}"/>
              </a:ext>
            </a:extLst>
          </p:cNvPr>
          <p:cNvSpPr txBox="1"/>
          <p:nvPr/>
        </p:nvSpPr>
        <p:spPr>
          <a:xfrm>
            <a:off x="355600" y="297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2：Pearson相关性 + SelectKBest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BCEFB77-797D-7FB0-A989-D55D691289D3}"/>
              </a:ext>
            </a:extLst>
          </p:cNvPr>
          <p:cNvSpPr txBox="1"/>
          <p:nvPr/>
        </p:nvSpPr>
        <p:spPr>
          <a:xfrm>
            <a:off x="1642533" y="75959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Filter（过滤式）特征选择方法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1EF390-63D0-438A-3A24-9EDD1C66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75" y="1382130"/>
            <a:ext cx="6292027" cy="141186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914D4F2-FADC-FFEF-CCC1-49AD79DA7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75" y="3416530"/>
            <a:ext cx="4934235" cy="244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4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C807E-C06B-7A8F-BE89-425DFB20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BFC831C-18B1-9D5D-8A23-6523D2F39A14}"/>
              </a:ext>
            </a:extLst>
          </p:cNvPr>
          <p:cNvSpPr txBox="1"/>
          <p:nvPr/>
        </p:nvSpPr>
        <p:spPr>
          <a:xfrm>
            <a:off x="355600" y="297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3：LASSO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6E3159-6DD2-13E5-DEA4-C9ED7D422DEF}"/>
              </a:ext>
            </a:extLst>
          </p:cNvPr>
          <p:cNvSpPr txBox="1"/>
          <p:nvPr/>
        </p:nvSpPr>
        <p:spPr>
          <a:xfrm>
            <a:off x="2455334" y="390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Embedded Feature Selection（嵌入式特征选择）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3D6686-0F1B-6507-2D1E-1B53E15F6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861395"/>
            <a:ext cx="6042819" cy="56986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5D15762-87F5-EF25-33F7-08B54316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19" y="861395"/>
            <a:ext cx="5563376" cy="22005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E42D24-DAF1-E18E-8E46-5E3F22F00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538" y="3796024"/>
            <a:ext cx="4483137" cy="182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57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9C3A-F610-FC7F-53F5-3406EDA2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019F8D6-E1E6-2FFD-660B-7E0954881B0C}"/>
              </a:ext>
            </a:extLst>
          </p:cNvPr>
          <p:cNvSpPr txBox="1"/>
          <p:nvPr/>
        </p:nvSpPr>
        <p:spPr>
          <a:xfrm>
            <a:off x="355600" y="297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4：Random Forest Feature Importance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615678-AE59-7582-583D-44E405827BB8}"/>
              </a:ext>
            </a:extLst>
          </p:cNvPr>
          <p:cNvSpPr txBox="1"/>
          <p:nvPr/>
        </p:nvSpPr>
        <p:spPr>
          <a:xfrm>
            <a:off x="1100667" y="75959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一个特征在所有决策树中，对降低分类错误贡献多少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201B29-11F4-E9B7-2847-151090CF4F0E}"/>
              </a:ext>
            </a:extLst>
          </p:cNvPr>
          <p:cNvSpPr txBox="1"/>
          <p:nvPr/>
        </p:nvSpPr>
        <p:spPr>
          <a:xfrm>
            <a:off x="355600" y="11851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Mean Decrease in Impurity（MDI）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E4AC4E-017D-35B7-074B-1B1D813E996B}"/>
              </a:ext>
            </a:extLst>
          </p:cNvPr>
          <p:cNvSpPr txBox="1"/>
          <p:nvPr/>
        </p:nvSpPr>
        <p:spPr>
          <a:xfrm>
            <a:off x="3843866" y="11941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平均不纯度下降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86A07D4-A1DB-0289-2C55-AAD827EB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655809"/>
            <a:ext cx="6433340" cy="266242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992C31B-3F9A-0F0D-BFF5-C49EC7A9C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67" y="759599"/>
            <a:ext cx="4470400" cy="600019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5157E14-0EEE-1524-ADAF-9E27D37A9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4" y="4318238"/>
            <a:ext cx="534427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21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A2182-F644-8127-F0AF-81CFBC407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813D16-E3F6-BC16-DFBB-6A98A9E4A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5" y="357187"/>
            <a:ext cx="946785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27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05416-718B-93A0-4ABC-E9C86BD6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D20AAB-3EC7-3577-61C6-FCAA7770F595}"/>
              </a:ext>
            </a:extLst>
          </p:cNvPr>
          <p:cNvSpPr txBox="1"/>
          <p:nvPr/>
        </p:nvSpPr>
        <p:spPr>
          <a:xfrm>
            <a:off x="355600" y="297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5：XGBoost Feature Importance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D52029-1B6F-523C-363C-35550C57925B}"/>
              </a:ext>
            </a:extLst>
          </p:cNvPr>
          <p:cNvSpPr txBox="1"/>
          <p:nvPr/>
        </p:nvSpPr>
        <p:spPr>
          <a:xfrm>
            <a:off x="1524000" y="759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多个弱分类器组合成强分类器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9F2102-1794-A45C-2938-C3528D193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279" y="3049440"/>
            <a:ext cx="4255146" cy="24594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259FA6D-4D02-E883-DD02-E551A2031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065" y="5508936"/>
            <a:ext cx="4069573" cy="117892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DC13218-2CEE-34B0-7FF2-F092F9D80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17" y="1260568"/>
            <a:ext cx="4486222" cy="542729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128DC70-6B99-0F08-9945-8C45C6EA4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426" y="1239437"/>
            <a:ext cx="5372850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6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C309-C6C6-DBCE-76AA-3A50D2EA0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机器学习算法(12) — 集成技术（Boosting — Xgboost 分类）_机器学习集成技术-CSDN博客">
            <a:extLst>
              <a:ext uri="{FF2B5EF4-FFF2-40B4-BE49-F238E27FC236}">
                <a16:creationId xmlns:a16="http://schemas.microsoft.com/office/drawing/2014/main" id="{F4EF6CD9-D543-C7F4-D9EA-6BE9B1947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142" y="732188"/>
            <a:ext cx="8505715" cy="539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26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0F02-706E-0458-70EF-C29814E4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0164731-DD86-9BC1-3E1E-29EDCC12E430}"/>
              </a:ext>
            </a:extLst>
          </p:cNvPr>
          <p:cNvSpPr txBox="1"/>
          <p:nvPr/>
        </p:nvSpPr>
        <p:spPr>
          <a:xfrm>
            <a:off x="355600" y="297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/>
              <a:t>6：SVM-RFE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E2072C-2CC6-C175-EF1A-73F408C1648A}"/>
              </a:ext>
            </a:extLst>
          </p:cNvPr>
          <p:cNvSpPr txBox="1"/>
          <p:nvPr/>
        </p:nvSpPr>
        <p:spPr>
          <a:xfrm>
            <a:off x="2304288" y="390267"/>
            <a:ext cx="9729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利用SVM模型训练结果中的特征权重，不断删除最不重要的特征，直到留下最有价值的特征。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EDAD1A-B60A-D0B6-889F-B6D1EC68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14" y="1798625"/>
            <a:ext cx="5268974" cy="322545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583FB16-674A-06A8-F3CA-57072AEE36C6}"/>
              </a:ext>
            </a:extLst>
          </p:cNvPr>
          <p:cNvSpPr txBox="1"/>
          <p:nvPr/>
        </p:nvSpPr>
        <p:spPr>
          <a:xfrm>
            <a:off x="6451600" y="5731711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Recursive Feature Elimination（递归消除）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8C3C2A-6E62-0B01-6AF9-0AF2E1B1A855}"/>
              </a:ext>
            </a:extLst>
          </p:cNvPr>
          <p:cNvSpPr txBox="1"/>
          <p:nvPr/>
        </p:nvSpPr>
        <p:spPr>
          <a:xfrm>
            <a:off x="593344" y="1324924"/>
            <a:ext cx="6382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Support Vector Machine</a:t>
            </a:r>
            <a:r>
              <a:rPr lang="en-US" altLang="zh-CN" dirty="0"/>
              <a:t>(</a:t>
            </a:r>
            <a:r>
              <a:rPr lang="zh-CN" altLang="zh-CN" dirty="0"/>
              <a:t>支持向量机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CD2EB4-5113-CB74-3FCB-33FF2C6C0DB7}"/>
              </a:ext>
            </a:extLst>
          </p:cNvPr>
          <p:cNvSpPr txBox="1"/>
          <p:nvPr/>
        </p:nvSpPr>
        <p:spPr>
          <a:xfrm>
            <a:off x="914400" y="1798625"/>
            <a:ext cx="5047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找到一条（二维）或一个超平面（高维），把不同类别的数据尽可能分开。</a:t>
            </a:r>
            <a:endParaRPr lang="zh-CN" altLang="en-US" dirty="0"/>
          </a:p>
        </p:txBody>
      </p:sp>
      <p:pic>
        <p:nvPicPr>
          <p:cNvPr id="13" name="图片 12" descr="08 支持向量机SVM-CSDN博客">
            <a:extLst>
              <a:ext uri="{FF2B5EF4-FFF2-40B4-BE49-F238E27FC236}">
                <a16:creationId xmlns:a16="http://schemas.microsoft.com/office/drawing/2014/main" id="{FA3C2B4C-9BF5-5C8B-4968-A9DAEEDEE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71699"/>
            <a:ext cx="4478529" cy="368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07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7A43-6F4C-7F33-6B99-16AC0531A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CE0D44-0CE7-41AF-E63B-B77DE41E6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542" y="394010"/>
            <a:ext cx="8862916" cy="606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68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8D68-D125-E8C8-6CAB-694B5B04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E1D6032-04EE-0878-DD8A-DFC29A90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707" y="304542"/>
            <a:ext cx="7794586" cy="624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96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C1C9-FA97-643A-9120-6DCD7E47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FB83434-0611-EBDF-1A63-20F38F071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12" y="1007305"/>
            <a:ext cx="9966828" cy="53425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A982BFC-DE58-D26D-A4E8-23590B0DEDCF}"/>
              </a:ext>
            </a:extLst>
          </p:cNvPr>
          <p:cNvSpPr txBox="1"/>
          <p:nvPr/>
        </p:nvSpPr>
        <p:spPr>
          <a:xfrm>
            <a:off x="285750" y="168048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i="0" dirty="0">
                <a:solidFill>
                  <a:srgbClr val="3B3B3B"/>
                </a:solidFill>
                <a:effectLst/>
                <a:latin typeface="-apple-system"/>
              </a:rPr>
              <a:t>Jaccard相似度矩阵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08913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6B6C7-D065-9F20-4BA7-BCAA9BE7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AF578A-DC64-359D-9C5C-57821C9F5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155" y="211841"/>
            <a:ext cx="8523690" cy="643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00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9F89C-D50E-4B25-52D3-5C9AC7A1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C050A38-33C4-A59F-8F51-0AA70C7D2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04" y="428019"/>
            <a:ext cx="8568991" cy="600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98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210D-E103-BB8D-890E-B8BB6B5D9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A44E2D-A8A8-A9AC-B7C5-2A232B59A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140" y="421561"/>
            <a:ext cx="7078120" cy="63534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56C2DF8-08B7-5E49-5B44-205B95DD2B98}"/>
              </a:ext>
            </a:extLst>
          </p:cNvPr>
          <p:cNvSpPr txBox="1"/>
          <p:nvPr/>
        </p:nvSpPr>
        <p:spPr>
          <a:xfrm>
            <a:off x="214884" y="252284"/>
            <a:ext cx="6099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r>
              <a:rPr lang="zh-CN" altLang="zh-CN" sz="1600" b="1" i="0" dirty="0">
                <a:solidFill>
                  <a:srgbClr val="3B3B3B"/>
                </a:solidFill>
                <a:effectLst/>
                <a:latin typeface="-apple-system"/>
              </a:rPr>
              <a:t>各筛选方法的特征族偏好如何？</a:t>
            </a:r>
          </a:p>
        </p:txBody>
      </p:sp>
    </p:spTree>
    <p:extLst>
      <p:ext uri="{BB962C8B-B14F-4D97-AF65-F5344CB8AC3E}">
        <p14:creationId xmlns:p14="http://schemas.microsoft.com/office/powerpoint/2010/main" val="238524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520</Words>
  <Application>Microsoft Office PowerPoint</Application>
  <PresentationFormat>宽屏</PresentationFormat>
  <Paragraphs>24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-apple-system</vt:lpstr>
      <vt:lpstr>等线</vt:lpstr>
      <vt:lpstr>等线 Light</vt:lpstr>
      <vt:lpstr>Arial</vt:lpstr>
      <vt:lpstr>Consolas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ds xu</dc:creator>
  <cp:lastModifiedBy>ds xu</cp:lastModifiedBy>
  <cp:revision>2</cp:revision>
  <dcterms:created xsi:type="dcterms:W3CDTF">2026-07-29T01:27:04Z</dcterms:created>
  <dcterms:modified xsi:type="dcterms:W3CDTF">2026-07-29T03:56:01Z</dcterms:modified>
</cp:coreProperties>
</file>