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3" r:id="rId6"/>
    <p:sldId id="264" r:id="rId7"/>
    <p:sldId id="265" r:id="rId8"/>
    <p:sldId id="258" r:id="rId9"/>
    <p:sldId id="266" r:id="rId10"/>
    <p:sldId id="260" r:id="rId11"/>
    <p:sldId id="261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61" autoAdjust="0"/>
    <p:restoredTop sz="94660"/>
  </p:normalViewPr>
  <p:slideViewPr>
    <p:cSldViewPr snapToGrid="0">
      <p:cViewPr>
        <p:scale>
          <a:sx n="66" d="100"/>
          <a:sy n="66" d="100"/>
        </p:scale>
        <p:origin x="48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326948-7F47-908B-EF20-41D8F1918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801A5F8-46D7-0414-D765-E24056FA4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082283-7106-2AD4-2062-27526C908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0B91-20D5-44F7-91D4-F02B927593C1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ED64FE-7FE8-8AE5-FF22-BF2C51798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1651B6-1B76-6100-CFE4-8721BD8A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F090E-7F3D-4DEB-8E44-3EFEAF00C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156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6EC28C-C779-B932-A239-D362867A8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57EFB2-863F-088D-AF76-DB517CB01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174CA9-795F-E7B8-9A53-DA3355054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0B91-20D5-44F7-91D4-F02B927593C1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DD74D0-75C6-58BE-CE09-17BCF7D2E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B8DC44-F861-EFC5-F78C-44DC508BA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F090E-7F3D-4DEB-8E44-3EFEAF00C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961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47C1ED-AA64-4194-BBF6-9BC79DFCC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AD87AC-E67D-CACD-91CF-C1AA2D0F4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B3106E-58C8-C6E0-4B3A-1CB962045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0B91-20D5-44F7-91D4-F02B927593C1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B7A80E-BF65-2EFD-D00B-864AED17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F7B7E2-22FF-C66C-0FE7-CDDFB12CF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F090E-7F3D-4DEB-8E44-3EFEAF00C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748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25ACE7-C182-97CA-181E-58F1CFD31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F0CF12-ABD4-08CB-C9DE-C2B8955E1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53D705-23E6-D483-2BED-0773B69D7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7CF68E-B07F-DAFC-E82E-B3B73521C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0B91-20D5-44F7-91D4-F02B927593C1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B6D3EC-6341-86E5-ADC6-3D680EDE9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727D3B-C4AF-BFE5-7A43-3FB56A6F7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F090E-7F3D-4DEB-8E44-3EFEAF00C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807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C6A41F-6796-4B5D-B536-4EB3D39D9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9BF593-5E9F-CA02-77BE-24FEC1001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B3EC89-0982-7B99-0D8D-0EECD2813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8A1E977-B04E-D87D-6233-DA2B67D7E6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D343BE-358F-4623-F397-E4695439DD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A640E0-3CDD-4155-BB71-F7E9B870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0B91-20D5-44F7-91D4-F02B927593C1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E1AB3DA-AF75-5B4B-4649-408682FB9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45F47E-AD07-DFE9-4C42-3D20B1CA3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F090E-7F3D-4DEB-8E44-3EFEAF00C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527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4AB662-EA67-601D-7C48-FE9353041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565224-4EE7-5E2E-CC58-D874DD302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0B91-20D5-44F7-91D4-F02B927593C1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163990-C3A3-9C7B-29C2-636704293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A153C2-B619-80EC-CE7A-B2E549A78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F090E-7F3D-4DEB-8E44-3EFEAF00C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522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74D811-6E23-6740-2E49-47E3A09C6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0B91-20D5-44F7-91D4-F02B927593C1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F6378C-248C-1EBF-970B-778F74EAC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D2EA0A-DC93-2CB9-708C-370F091D7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F090E-7F3D-4DEB-8E44-3EFEAF00C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552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1F0E24-0326-5782-0C9D-13C552098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649A6B-600A-2985-2437-5CAE11F2C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E0BAE6-1052-DA13-34E4-A7E246853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C3BEE5-6077-0A72-1AB6-F3D29A5AC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0B91-20D5-44F7-91D4-F02B927593C1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F425E1-E6BE-C46B-C1D8-590F24D2C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99D634-FD28-6FF5-FA0A-FBC5DC9D0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F090E-7F3D-4DEB-8E44-3EFEAF00C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562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5479B4-4F38-576D-01FB-580D97CBC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4DDB8C0-066F-92F8-35E7-C180528243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B3431C-7FE7-E019-6322-904916415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2CA2BE-86EE-380D-D57A-DB10E9EE4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0B91-20D5-44F7-91D4-F02B927593C1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6A82E2-1464-3E15-36EA-6526E638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2ACC89-51E6-3840-D328-3E5ED12D0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F090E-7F3D-4DEB-8E44-3EFEAF00C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141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5FCED6-9B02-49D9-7053-84CF34AB0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7B1426-97AA-CBA8-0770-9A8E486A3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54E329-7B20-43D7-E3F4-AC50085CD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0B91-20D5-44F7-91D4-F02B927593C1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181200-4095-F2F2-3786-27D3B5EE7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E8E29C-8C08-58C1-66AC-5C706534A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F090E-7F3D-4DEB-8E44-3EFEAF00C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714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6CA3A2-FE40-7DC6-96CE-6404BFAAC9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90C053-3A4D-E544-853A-4537CE50D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DEF2C4-319F-32AC-DCF7-69F6F035F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0B91-20D5-44F7-91D4-F02B927593C1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34BCB1-8CCD-20C4-DE66-314DADBD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46B0D0-C9FA-DB44-8D07-8A9638969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F090E-7F3D-4DEB-8E44-3EFEAF00C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6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1BA1B34-D803-36CC-2A63-DFE68E18E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6E2166-F6F3-CC33-05DE-92C8C99E5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10217E-E016-22D5-08D4-E684E16F0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580B91-20D5-44F7-91D4-F02B927593C1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E21165-9AAA-4C04-9A78-EC69CFBD62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2D020F-D9BF-61B6-81A1-205EE571F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F090E-7F3D-4DEB-8E44-3EFEAF00C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951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F4612D8-A44B-105F-BC65-F0FDA0326D18}"/>
              </a:ext>
            </a:extLst>
          </p:cNvPr>
          <p:cNvSpPr txBox="1"/>
          <p:nvPr/>
        </p:nvSpPr>
        <p:spPr>
          <a:xfrm>
            <a:off x="3159940" y="345440"/>
            <a:ext cx="58721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07_data_leakage   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数据泄漏分析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E86870C-9173-8ACF-7557-6B896E87F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431" y="1990633"/>
            <a:ext cx="6557967" cy="391223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087B623-1F4B-5164-E30D-581AC5517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02" y="3066894"/>
            <a:ext cx="4995798" cy="175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2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E9BD9-977C-FDBF-C1E8-6104E98B6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75B9E5D-6766-F643-7E65-D06B47517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71" y="1427495"/>
            <a:ext cx="8582057" cy="479548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F11BFB6-2D83-4566-4ADF-5C9C483F007C}"/>
              </a:ext>
            </a:extLst>
          </p:cNvPr>
          <p:cNvSpPr txBox="1"/>
          <p:nvPr/>
        </p:nvSpPr>
        <p:spPr>
          <a:xfrm>
            <a:off x="487680" y="487680"/>
            <a:ext cx="4398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/>
              <a:t>实验 1 &amp; 2: 标准化泄漏</a:t>
            </a:r>
            <a:endParaRPr lang="zh-CN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389198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5B970-D1B7-0CF5-8068-3343BF317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B3F042D-67EC-9233-9C35-77B0AF2CB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66" y="924183"/>
            <a:ext cx="8750635" cy="381715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5FB048F-D8A9-979F-5B08-D264B9ECF6BB}"/>
              </a:ext>
            </a:extLst>
          </p:cNvPr>
          <p:cNvSpPr txBox="1"/>
          <p:nvPr/>
        </p:nvSpPr>
        <p:spPr>
          <a:xfrm>
            <a:off x="1805093" y="5291102"/>
            <a:ext cx="92496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表示该特征对预测结果的贡献大小和方向（正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负）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E65A86A-FD48-A346-7A17-7E870A1AE32A}"/>
                  </a:ext>
                </a:extLst>
              </p:cNvPr>
              <p:cNvSpPr txBox="1"/>
              <p:nvPr/>
            </p:nvSpPr>
            <p:spPr>
              <a:xfrm>
                <a:off x="9541934" y="1043678"/>
                <a:ext cx="2235200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       </a:t>
                </a:r>
                <a:r>
                  <a:rPr lang="zh-CN" altLang="zh-CN" dirty="0"/>
                  <a:t>Coef 是通过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最大似然估计</a:t>
                </a:r>
                <a:r>
                  <a:rPr lang="zh-CN" altLang="zh-CN" dirty="0"/>
                  <a:t>求解损失函数得到的，其大小不仅取决于标签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zh-CN" dirty="0"/>
                  <a:t>，还取决于</a:t>
                </a:r>
                <a:r>
                  <a:rPr lang="zh-CN" altLang="zh-CN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输入特征矩阵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zh-CN" dirty="0"/>
                  <a:t>。标准化泄露改变了均值和标准差，使输入数据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zh-CN" dirty="0"/>
                  <a:t>的数值空间发生变化，从而改变了模型优化的目标函数</a:t>
                </a:r>
                <a:r>
                  <a:rPr lang="zh-CN" altLang="en-US" dirty="0"/>
                  <a:t>。</a:t>
                </a: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E65A86A-FD48-A346-7A17-7E870A1AE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1934" y="1043678"/>
                <a:ext cx="2235200" cy="3416320"/>
              </a:xfrm>
              <a:prstGeom prst="rect">
                <a:avLst/>
              </a:prstGeom>
              <a:blipFill>
                <a:blip r:embed="rId3"/>
                <a:stretch>
                  <a:fillRect l="-2180" t="-891" r="-2180" b="-1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146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E20A-F797-EF16-65E9-84E7D92A9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1B02D75-C1D5-CD19-C5B9-DC5D369AB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25" y="288100"/>
            <a:ext cx="10741750" cy="336717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A44F5B1-95A2-A944-5C1C-665D40125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531" y="4031996"/>
            <a:ext cx="5416821" cy="268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791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E7D92-9D13-D92D-AAED-567DCC714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41BD965-FAA3-2D33-E656-9CB2AC539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850" y="1312763"/>
            <a:ext cx="5630703" cy="195302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44DA058-0B38-B699-7F92-3C0672EEACAF}"/>
              </a:ext>
            </a:extLst>
          </p:cNvPr>
          <p:cNvSpPr txBox="1"/>
          <p:nvPr/>
        </p:nvSpPr>
        <p:spPr>
          <a:xfrm>
            <a:off x="487680" y="487680"/>
            <a:ext cx="40190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/>
              <a:t>实验 3: 特征选择泄漏</a:t>
            </a:r>
            <a:endParaRPr lang="zh-CN" altLang="zh-CN" sz="3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9F36BA-D698-856B-5CDF-0C928AAC836E}"/>
              </a:ext>
            </a:extLst>
          </p:cNvPr>
          <p:cNvSpPr txBox="1"/>
          <p:nvPr/>
        </p:nvSpPr>
        <p:spPr>
          <a:xfrm>
            <a:off x="7101840" y="1208996"/>
            <a:ext cx="45031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/>
              <a:t>改变 SelectKBest(k) 参数</a:t>
            </a:r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zh-CN" altLang="zh-CN" dirty="0"/>
              <a:t>研究“特征选择规模是否影响泄露”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7B250B-FBEF-4F77-EA32-F6568D5BF157}"/>
              </a:ext>
            </a:extLst>
          </p:cNvPr>
          <p:cNvSpPr txBox="1"/>
          <p:nvPr/>
        </p:nvSpPr>
        <p:spPr>
          <a:xfrm>
            <a:off x="7333985" y="3481923"/>
            <a:ext cx="42723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/>
              <a:t>增加交叉验证次数</a:t>
            </a:r>
            <a:r>
              <a:rPr lang="zh-CN" altLang="en-US" sz="2400" dirty="0"/>
              <a:t>（</a:t>
            </a:r>
            <a:r>
              <a:rPr lang="en-US" altLang="zh-CN" sz="2400" dirty="0"/>
              <a:t>08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zh-CN" altLang="zh-CN" dirty="0"/>
              <a:t>研究“评价稳定性是否掩盖泄露”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E9072C2-76F4-152F-6EE3-686AA2BE8806}"/>
              </a:ext>
            </a:extLst>
          </p:cNvPr>
          <p:cNvPicPr>
            <a:picLocks/>
          </p:cNvPicPr>
          <p:nvPr/>
        </p:nvPicPr>
        <p:blipFill>
          <a:blip r:embed="rId3"/>
          <a:srcRect l="5172"/>
          <a:stretch>
            <a:fillRect/>
          </a:stretch>
        </p:blipFill>
        <p:spPr>
          <a:xfrm>
            <a:off x="690880" y="4417293"/>
            <a:ext cx="8108992" cy="195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568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C91D2-92A5-4D45-850F-0497C4F9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7590EAD-28B4-F84C-CF71-904F13112C94}"/>
              </a:ext>
            </a:extLst>
          </p:cNvPr>
          <p:cNvSpPr txBox="1"/>
          <p:nvPr/>
        </p:nvSpPr>
        <p:spPr>
          <a:xfrm>
            <a:off x="1203960" y="982176"/>
            <a:ext cx="97840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dirty="0"/>
              <a:t>        </a:t>
            </a:r>
            <a:r>
              <a:rPr lang="zh-CN" altLang="zh-CN" sz="2400" dirty="0"/>
              <a:t>误区</a:t>
            </a:r>
            <a:r>
              <a:rPr lang="zh-CN" altLang="en-US" sz="2400" dirty="0"/>
              <a:t>：</a:t>
            </a:r>
            <a:r>
              <a:rPr lang="zh-CN" altLang="zh-CN" sz="2400" dirty="0"/>
              <a:t>认为“增加交叉验证次数会导致更多数据参与模型训练，因此可能加剧数据泄露并进一步提高AUC”。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        </a:t>
            </a:r>
            <a:r>
              <a:rPr lang="zh-CN" altLang="zh-CN" sz="2400" dirty="0"/>
              <a:t>这种理解混淆了</a:t>
            </a:r>
            <a:r>
              <a:rPr lang="zh-CN" altLang="zh-CN" sz="2400" b="1" dirty="0">
                <a:highlight>
                  <a:srgbClr val="FFFF00"/>
                </a:highlight>
              </a:rPr>
              <a:t>模型评价稳定性</a:t>
            </a:r>
            <a:r>
              <a:rPr lang="zh-CN" altLang="zh-CN" sz="2400" dirty="0"/>
              <a:t>与</a:t>
            </a:r>
            <a:r>
              <a:rPr lang="zh-CN" altLang="zh-CN" sz="2400" b="1" dirty="0">
                <a:highlight>
                  <a:srgbClr val="FFFF00"/>
                </a:highlight>
              </a:rPr>
              <a:t>数据泄露问题</a:t>
            </a:r>
            <a:r>
              <a:rPr lang="zh-CN" altLang="zh-CN" sz="2400" dirty="0"/>
              <a:t>。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        </a:t>
            </a:r>
            <a:r>
              <a:rPr lang="zh-CN" altLang="zh-CN" sz="2400" dirty="0"/>
              <a:t>交叉验证的作用是通过多次划分训练集和验证集，降低单次数据划分造成的随机波动，</a:t>
            </a:r>
            <a:r>
              <a:rPr lang="zh-CN" altLang="zh-CN" sz="2400" dirty="0">
                <a:solidFill>
                  <a:srgbClr val="FF0000"/>
                </a:solidFill>
              </a:rPr>
              <a:t>提高模型性能估计的可靠性</a:t>
            </a:r>
            <a:r>
              <a:rPr lang="zh-CN" altLang="en-US" sz="2400" dirty="0">
                <a:solidFill>
                  <a:srgbClr val="FF0000"/>
                </a:solidFill>
              </a:rPr>
              <a:t>。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    </a:t>
            </a:r>
            <a:r>
              <a:rPr lang="zh-CN" altLang="zh-CN" sz="2400" dirty="0"/>
              <a:t>交叉验证次数的增加</a:t>
            </a:r>
            <a:r>
              <a:rPr lang="zh-CN" altLang="zh-CN" sz="2400" dirty="0">
                <a:highlight>
                  <a:srgbClr val="FFFF00"/>
                </a:highlight>
              </a:rPr>
              <a:t>并不会改变已经获得的信息，也不会增强或消除特征泄露影响</a:t>
            </a:r>
            <a:r>
              <a:rPr lang="zh-CN" altLang="zh-CN" sz="2400" dirty="0"/>
              <a:t>。本实验通过比较不同交叉验证策略下的结果发现，3-fold、5-fold、10-fold和20-fold条件下，正确流程与特征选择泄露流程的AUC差异均接近于0，说明在当前低维、大样本癌症数据中，特征选择结果具有较高稳定性，</a:t>
            </a:r>
            <a:r>
              <a:rPr lang="zh-CN" altLang="zh-CN" sz="2400" dirty="0">
                <a:solidFill>
                  <a:srgbClr val="FF0000"/>
                </a:solidFill>
              </a:rPr>
              <a:t>泄露虽然存在，但未造成明显AUC虚高</a:t>
            </a:r>
            <a:r>
              <a:rPr lang="zh-CN" altLang="zh-CN" sz="2400" dirty="0"/>
              <a:t>。</a:t>
            </a:r>
            <a:endParaRPr lang="en-US" altLang="zh-CN" sz="2400" dirty="0"/>
          </a:p>
          <a:p>
            <a:pPr>
              <a:buNone/>
            </a:pP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        </a:t>
            </a:r>
            <a:r>
              <a:rPr lang="zh-CN" altLang="zh-CN" sz="2400" dirty="0"/>
              <a:t>正确理解应为：</a:t>
            </a:r>
            <a:r>
              <a:rPr lang="zh-CN" altLang="zh-CN" sz="2400" b="1" dirty="0"/>
              <a:t>CV次数影响的是性能估计的稳定程度，而泄露程度取决于信息是否发生越界，两者属于不同层面的问题。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880432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16A3C-062F-50B2-B2B0-974383A66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FD1258-5E5D-DD8D-060F-8C65ECC60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11" y="616982"/>
            <a:ext cx="7290087" cy="576786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EE78535-D01C-1376-BF59-D82B252043E3}"/>
              </a:ext>
            </a:extLst>
          </p:cNvPr>
          <p:cNvSpPr txBox="1"/>
          <p:nvPr/>
        </p:nvSpPr>
        <p:spPr>
          <a:xfrm>
            <a:off x="8835991" y="1901934"/>
            <a:ext cx="303195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F</a:t>
            </a:r>
            <a:r>
              <a:rPr lang="zh-CN" altLang="en-US" sz="2400" dirty="0"/>
              <a:t>：</a:t>
            </a:r>
            <a:r>
              <a:rPr lang="zh-CN" altLang="zh-CN" sz="2400" dirty="0"/>
              <a:t>衡量</a:t>
            </a:r>
            <a:r>
              <a:rPr lang="zh-CN" altLang="zh-CN" sz="2400" b="1" dirty="0"/>
              <a:t>某个特征与目标变量关联强弱</a:t>
            </a:r>
            <a:r>
              <a:rPr lang="zh-CN" altLang="zh-CN" sz="2400" dirty="0"/>
              <a:t>的统计量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zh-CN" sz="2400" dirty="0"/>
              <a:t>F越大，说明不同类别在这个特征上的差异越明显，而随机波动越小，因此这个特征越有区分能力。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752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23BBF-5B0A-EBCB-36CD-7D06D0ADE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5FBFB46-A6A1-CE9C-2CDD-B9F36B503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82" y="1185549"/>
            <a:ext cx="10288436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1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14D87-00AA-7901-9097-C066F2C2E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E2294F6-D7E4-C010-586B-87A236D31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589" y="1216984"/>
            <a:ext cx="9322822" cy="556164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9900FF8-29BC-2507-9B21-073372D3E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180533" cy="110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38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98C61-CD0F-6779-4738-90A11CEC3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39F7A4E-A4F7-D9C8-7692-EC02A2991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335" y="320259"/>
            <a:ext cx="9345329" cy="59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629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D54C3-28AB-7B04-809B-6311B0DAB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827A338-0221-AF9B-F642-8BC5106D1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767" y="933451"/>
            <a:ext cx="9834466" cy="499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09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6D586-D72A-9AA8-3ECB-3A2744A5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915A536-A133-F95D-8DD0-50306480A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15" y="110127"/>
            <a:ext cx="10832369" cy="663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466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358</Words>
  <Application>Microsoft Office PowerPoint</Application>
  <PresentationFormat>宽屏</PresentationFormat>
  <Paragraphs>19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 xu</dc:creator>
  <cp:lastModifiedBy>ds xu</cp:lastModifiedBy>
  <cp:revision>14</cp:revision>
  <dcterms:created xsi:type="dcterms:W3CDTF">2026-07-18T01:03:43Z</dcterms:created>
  <dcterms:modified xsi:type="dcterms:W3CDTF">2026-07-18T03:12:33Z</dcterms:modified>
</cp:coreProperties>
</file>