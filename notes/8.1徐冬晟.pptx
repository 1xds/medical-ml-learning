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sldIdLst>
    <p:sldId id="256" r:id="rId3"/>
    <p:sldId id="257" r:id="rId4"/>
    <p:sldId id="268" r:id="rId5"/>
    <p:sldId id="263" r:id="rId6"/>
    <p:sldId id="262" r:id="rId7"/>
    <p:sldId id="264" r:id="rId8"/>
    <p:sldId id="297" r:id="rId9"/>
    <p:sldId id="258" r:id="rId10"/>
    <p:sldId id="260" r:id="rId11"/>
    <p:sldId id="269" r:id="rId12"/>
    <p:sldId id="259" r:id="rId13"/>
    <p:sldId id="301" r:id="rId14"/>
    <p:sldId id="265" r:id="rId15"/>
    <p:sldId id="302" r:id="rId16"/>
    <p:sldId id="266" r:id="rId17"/>
    <p:sldId id="272" r:id="rId18"/>
    <p:sldId id="271" r:id="rId19"/>
    <p:sldId id="270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48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C8F97-0414-4FB4-AF90-C67C0494E9A8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5A2FC-2981-4131-A0D8-F0E0B6F0969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C8F97-0414-4FB4-AF90-C67C0494E9A8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5A2FC-2981-4131-A0D8-F0E0B6F0969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C8F97-0414-4FB4-AF90-C67C0494E9A8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5A2FC-2981-4131-A0D8-F0E0B6F0969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C8F97-0414-4FB4-AF90-C67C0494E9A8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5A2FC-2981-4131-A0D8-F0E0B6F0969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C8F97-0414-4FB4-AF90-C67C0494E9A8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5A2FC-2981-4131-A0D8-F0E0B6F0969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C8F97-0414-4FB4-AF90-C67C0494E9A8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5A2FC-2981-4131-A0D8-F0E0B6F0969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C8F97-0414-4FB4-AF90-C67C0494E9A8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5A2FC-2981-4131-A0D8-F0E0B6F0969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C8F97-0414-4FB4-AF90-C67C0494E9A8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5A2FC-2981-4131-A0D8-F0E0B6F0969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C8F97-0414-4FB4-AF90-C67C0494E9A8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5A2FC-2981-4131-A0D8-F0E0B6F0969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C8F97-0414-4FB4-AF90-C67C0494E9A8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5A2FC-2981-4131-A0D8-F0E0B6F0969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C8F97-0414-4FB4-AF90-C67C0494E9A8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5A2FC-2981-4131-A0D8-F0E0B6F0969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C8F97-0414-4FB4-AF90-C67C0494E9A8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5A2FC-2981-4131-A0D8-F0E0B6F0969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C8F97-0414-4FB4-AF90-C67C0494E9A8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5A2FC-2981-4131-A0D8-F0E0B6F0969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C8F97-0414-4FB4-AF90-C67C0494E9A8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5A2FC-2981-4131-A0D8-F0E0B6F0969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C8F97-0414-4FB4-AF90-C67C0494E9A8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5A2FC-2981-4131-A0D8-F0E0B6F0969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C8F97-0414-4FB4-AF90-C67C0494E9A8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5A2FC-2981-4131-A0D8-F0E0B6F0969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C8F97-0414-4FB4-AF90-C67C0494E9A8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5A2FC-2981-4131-A0D8-F0E0B6F0969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C8F97-0414-4FB4-AF90-C67C0494E9A8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5A2FC-2981-4131-A0D8-F0E0B6F0969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C8F97-0414-4FB4-AF90-C67C0494E9A8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5A2FC-2981-4131-A0D8-F0E0B6F0969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C8F97-0414-4FB4-AF90-C67C0494E9A8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5A2FC-2981-4131-A0D8-F0E0B6F0969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C8F97-0414-4FB4-AF90-C67C0494E9A8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5A2FC-2981-4131-A0D8-F0E0B6F0969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C8F97-0414-4FB4-AF90-C67C0494E9A8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5A2FC-2981-4131-A0D8-F0E0B6F0969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3C8F97-0414-4FB4-AF90-C67C0494E9A8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B5A2FC-2981-4131-A0D8-F0E0B6F0969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3C8F97-0414-4FB4-AF90-C67C0494E9A8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B5A2FC-2981-4131-A0D8-F0E0B6F0969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209800" y="2729970"/>
            <a:ext cx="77724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3200" dirty="0">
                <a:latin typeface="黑体" panose="02010609060101010101" pitchFamily="49" charset="-122"/>
                <a:ea typeface="黑体" panose="02010609060101010101" pitchFamily="49" charset="-122"/>
              </a:rPr>
              <a:t>基于 LIDC-IDRI 数据集的肺结节恶性程度预测研究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643582" y="5725244"/>
            <a:ext cx="3689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汇报人：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AI—4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组 徐冬晟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39449" y="118369"/>
            <a:ext cx="1126155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背景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zh-CN" altLang="zh-CN" sz="3200" dirty="0">
                <a:latin typeface="黑体" panose="02010609060101010101" pitchFamily="49" charset="-122"/>
                <a:ea typeface="黑体" panose="02010609060101010101" pitchFamily="49" charset="-122"/>
              </a:rPr>
              <a:t>从传统影像诊断到人工智能驱动的肺结节精准风险评估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337" y="940410"/>
            <a:ext cx="4991969" cy="5799221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4D4F0DA0-B2F2-09F0-C73F-F134437477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4854" y="1142192"/>
            <a:ext cx="5346154" cy="53956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98280" y="331112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3200" dirty="0">
                <a:latin typeface="黑体" panose="02010609060101010101" pitchFamily="49" charset="-122"/>
                <a:ea typeface="黑体" panose="02010609060101010101" pitchFamily="49" charset="-122"/>
              </a:rPr>
              <a:t>数据集介绍 —— LIDC-IDRI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950" y="1652453"/>
            <a:ext cx="11800100" cy="4470022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642620" y="894715"/>
            <a:ext cx="10942320" cy="3079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zh-CN" sz="1600" b="1" i="0" dirty="0">
                <a:effectLst/>
                <a:latin typeface="quote-cjk-patch"/>
              </a:rPr>
              <a:t>The Lung Image Database Consortium (LIDC) and Image Database Resource Initiative (IDRI)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54965" y="283845"/>
            <a:ext cx="9157335" cy="4298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ct val="60000"/>
              </a:spcAft>
            </a:pPr>
            <a:r>
              <a:rPr lang="en-US" altLang="zh-CN" sz="2200" b="1"/>
              <a:t>CT</a:t>
            </a:r>
            <a:r>
              <a:rPr lang="zh-CN" altLang="en-US" sz="2200" b="1"/>
              <a:t>影像（</a:t>
            </a:r>
            <a:r>
              <a:rPr lang="en-US" altLang="zh-CN" sz="2200" b="1"/>
              <a:t>DICOM</a:t>
            </a:r>
            <a:r>
              <a:rPr lang="zh-CN" altLang="en-US" sz="2200" b="1"/>
              <a:t>）</a:t>
            </a:r>
            <a:endParaRPr lang="en-US" altLang="zh-CN" sz="1600"/>
          </a:p>
        </p:txBody>
      </p:sp>
      <p:sp>
        <p:nvSpPr>
          <p:cNvPr id="3" name="文本框 2"/>
          <p:cNvSpPr txBox="1"/>
          <p:nvPr/>
        </p:nvSpPr>
        <p:spPr>
          <a:xfrm>
            <a:off x="199390" y="915035"/>
            <a:ext cx="10142855" cy="15982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ct val="60000"/>
              </a:spcAft>
            </a:pPr>
            <a:r>
              <a:rPr lang="en-US" altLang="zh-CN" sz="2300" b="1"/>
              <a:t>1. DICOM</a:t>
            </a:r>
            <a:r>
              <a:rPr lang="zh-CN" altLang="en-US" sz="2300" b="1"/>
              <a:t>文件组织形式</a:t>
            </a:r>
          </a:p>
          <a:p>
            <a:r>
              <a:rPr lang="en-US" altLang="zh-CN" sz="2000"/>
              <a:t>LIDC-IDRI</a:t>
            </a:r>
            <a:r>
              <a:rPr lang="zh-CN" altLang="en-US" sz="2000"/>
              <a:t>中的</a:t>
            </a:r>
            <a:r>
              <a:rPr lang="en-US" altLang="zh-CN" sz="2000"/>
              <a:t>CT</a:t>
            </a:r>
            <a:r>
              <a:rPr lang="zh-CN" altLang="en-US" sz="2000"/>
              <a:t>影像以 </a:t>
            </a:r>
            <a:r>
              <a:rPr lang="en-US" altLang="zh-CN" sz="2000"/>
              <a:t>DICOM</a:t>
            </a:r>
            <a:r>
              <a:rPr lang="zh-CN" altLang="en-US" sz="2000"/>
              <a:t>（</a:t>
            </a:r>
            <a:r>
              <a:rPr lang="en-US" altLang="zh-CN" sz="2000"/>
              <a:t>Digital Imaging and Communications in Medicine</a:t>
            </a:r>
            <a:r>
              <a:rPr lang="zh-CN" altLang="en-US" sz="2000"/>
              <a:t>）格式存储。</a:t>
            </a:r>
          </a:p>
          <a:p>
            <a:r>
              <a:rPr lang="zh-CN" altLang="en-US" sz="2000"/>
              <a:t>一次</a:t>
            </a:r>
            <a:r>
              <a:rPr lang="en-US" altLang="zh-CN" sz="2000"/>
              <a:t>CT</a:t>
            </a:r>
            <a:r>
              <a:rPr lang="zh-CN" altLang="en-US" sz="2000"/>
              <a:t>扫描不是一个单独图片，而是由多个连续的二维切片组成。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3BED331-3C9E-3190-9AF9-DCD339BAC7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90" y="2407452"/>
            <a:ext cx="7245513" cy="434467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F04E674-3D14-391F-A7D8-AE4870251C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6955" y="3807772"/>
            <a:ext cx="4366628" cy="246308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96570" y="231140"/>
            <a:ext cx="8449945" cy="1290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ct val="60000"/>
              </a:spcAft>
            </a:pPr>
            <a:r>
              <a:rPr lang="en-US" altLang="zh-CN" sz="2300" b="1"/>
              <a:t>2. </a:t>
            </a:r>
            <a:r>
              <a:rPr lang="zh-CN" altLang="en-US" sz="2300" b="1"/>
              <a:t>单个</a:t>
            </a:r>
            <a:r>
              <a:rPr lang="en-US" altLang="zh-CN" sz="2300" b="1"/>
              <a:t>DICOM</a:t>
            </a:r>
            <a:r>
              <a:rPr lang="zh-CN" altLang="en-US" sz="2300" b="1"/>
              <a:t>切片包含的信息</a:t>
            </a:r>
          </a:p>
          <a:p>
            <a:r>
              <a:rPr lang="zh-CN" altLang="en-US" sz="2000"/>
              <a:t>每个</a:t>
            </a:r>
            <a:r>
              <a:rPr lang="en-US" altLang="zh-CN" sz="2000"/>
              <a:t>DICOM</a:t>
            </a:r>
            <a:r>
              <a:rPr lang="zh-CN" altLang="en-US" sz="2000"/>
              <a:t>文件不仅包含图像矩阵，还包含重要空间信息。</a:t>
            </a:r>
          </a:p>
          <a:p>
            <a:endParaRPr lang="zh-CN" altLang="en-US" sz="200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70" y="1537970"/>
            <a:ext cx="4879975" cy="506349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3230" y="1680210"/>
            <a:ext cx="6259195" cy="45205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65455" y="205105"/>
            <a:ext cx="9086215" cy="150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ct val="60000"/>
              </a:spcAft>
            </a:pPr>
            <a:r>
              <a:rPr lang="en-US" altLang="zh-CN" sz="2300" b="1"/>
              <a:t>3. </a:t>
            </a:r>
            <a:r>
              <a:rPr lang="zh-CN" altLang="en-US" sz="2300" b="1"/>
              <a:t>从二维</a:t>
            </a:r>
            <a:r>
              <a:rPr lang="en-US" altLang="zh-CN" sz="2300" b="1"/>
              <a:t>CT</a:t>
            </a:r>
            <a:r>
              <a:rPr lang="zh-CN" altLang="en-US" sz="2300" b="1"/>
              <a:t>切片到三维</a:t>
            </a:r>
            <a:r>
              <a:rPr lang="en-US" altLang="zh-CN" sz="2300" b="1"/>
              <a:t>CT Volume</a:t>
            </a:r>
          </a:p>
          <a:p>
            <a:pPr>
              <a:spcAft>
                <a:spcPct val="60000"/>
              </a:spcAft>
            </a:pPr>
            <a:endParaRPr lang="en-US" altLang="zh-CN" sz="2300" b="1"/>
          </a:p>
          <a:p>
            <a:pPr>
              <a:spcAft>
                <a:spcPct val="60000"/>
              </a:spcAft>
            </a:pPr>
            <a:r>
              <a:rPr lang="en-US" altLang="zh-CN" sz="1600"/>
              <a:t>CT</a:t>
            </a:r>
            <a:r>
              <a:rPr lang="zh-CN" altLang="en-US" sz="1600"/>
              <a:t>扫描过程中，</a:t>
            </a:r>
            <a:r>
              <a:rPr lang="en-US" altLang="zh-CN" sz="1600"/>
              <a:t>X</a:t>
            </a:r>
            <a:r>
              <a:rPr lang="zh-CN" altLang="en-US" sz="1600"/>
              <a:t>射线设备沿人体纵轴方向连续采集多个切面。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65455" y="950278"/>
            <a:ext cx="5080000" cy="33718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600"/>
              <a:t>DICOM</a:t>
            </a:r>
            <a:r>
              <a:rPr lang="zh-CN" altLang="en-US" sz="1600"/>
              <a:t>切片通过空间信息重建三维医学影像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8A85F1D-071B-59A4-0C8C-83CE20797B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07" y="1909159"/>
            <a:ext cx="6853705" cy="449017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63125DB-0214-6C6B-3EAE-D8B3FFE71DB4}"/>
              </a:ext>
            </a:extLst>
          </p:cNvPr>
          <p:cNvSpPr txBox="1"/>
          <p:nvPr/>
        </p:nvSpPr>
        <p:spPr>
          <a:xfrm>
            <a:off x="8382133" y="3707784"/>
            <a:ext cx="18206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i="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右侧脖子后方、脊柱骨头（棘突或椎板）附近的那个微小区域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34340" y="171103"/>
            <a:ext cx="5080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XML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专家标注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" y="782101"/>
            <a:ext cx="5467350" cy="572452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8ABF08F-A8DE-B728-C396-1046704EBF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1482" y="1666371"/>
            <a:ext cx="6119563" cy="395598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98280" y="331112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3200" dirty="0">
                <a:latin typeface="黑体" panose="02010609060101010101" pitchFamily="49" charset="-122"/>
                <a:ea typeface="黑体" panose="02010609060101010101" pitchFamily="49" charset="-122"/>
              </a:rPr>
              <a:t>数据集介绍 —— LIDC-IDRI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559" y="1289857"/>
            <a:ext cx="11795440" cy="4472652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367" y="6063327"/>
            <a:ext cx="11145823" cy="5847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36883" y="168134"/>
            <a:ext cx="1151823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3200" dirty="0">
                <a:latin typeface="黑体" panose="02010609060101010101" pitchFamily="49" charset="-122"/>
                <a:ea typeface="黑体" panose="02010609060101010101" pitchFamily="49" charset="-122"/>
              </a:rPr>
              <a:t>实验目标与研究设计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9" y="748417"/>
            <a:ext cx="11780754" cy="59414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3F8DB00D-FA3C-0BF3-9AD5-E6009E8F05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81" y="1800771"/>
            <a:ext cx="11262837" cy="2241699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8FB11B37-B85A-9C30-1904-9CDD1A698B51}"/>
              </a:ext>
            </a:extLst>
          </p:cNvPr>
          <p:cNvSpPr txBox="1"/>
          <p:nvPr/>
        </p:nvSpPr>
        <p:spPr>
          <a:xfrm>
            <a:off x="358775" y="227648"/>
            <a:ext cx="5080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1  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数据筛选与影像配准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C68F0A9-8552-7D68-BF43-3F89780C14F8}"/>
              </a:ext>
            </a:extLst>
          </p:cNvPr>
          <p:cNvSpPr txBox="1"/>
          <p:nvPr/>
        </p:nvSpPr>
        <p:spPr>
          <a:xfrm>
            <a:off x="4508266" y="262490"/>
            <a:ext cx="5080000" cy="33718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600" dirty="0"/>
              <a:t>LIDC-IDRI → CT + XML</a:t>
            </a:r>
            <a:r>
              <a:rPr lang="zh-CN" altLang="en-US" sz="1600" dirty="0"/>
              <a:t>匹配 </a:t>
            </a:r>
            <a:r>
              <a:rPr lang="en-US" altLang="zh-CN" sz="1600" dirty="0"/>
              <a:t>→ ROI</a:t>
            </a:r>
            <a:r>
              <a:rPr lang="zh-CN" altLang="en-US" sz="1600" dirty="0"/>
              <a:t>定位与标签关联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55600" y="446843"/>
            <a:ext cx="5080000" cy="8191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ct val="60000"/>
              </a:spcAft>
            </a:pPr>
            <a:r>
              <a:rPr lang="en-US" altLang="zh-CN" sz="1900" b="1" dirty="0"/>
              <a:t>Step 1   XML</a:t>
            </a:r>
            <a:r>
              <a:rPr lang="zh-CN" altLang="en-US" sz="1900" b="1" dirty="0"/>
              <a:t>解析与</a:t>
            </a:r>
            <a:r>
              <a:rPr lang="en-US" altLang="zh-CN" sz="1900" b="1" dirty="0"/>
              <a:t>ROI</a:t>
            </a:r>
            <a:r>
              <a:rPr lang="zh-CN" altLang="en-US" sz="1900" b="1" dirty="0"/>
              <a:t>信息提取</a:t>
            </a:r>
          </a:p>
          <a:p>
            <a:pPr>
              <a:spcAft>
                <a:spcPct val="60000"/>
              </a:spcAft>
            </a:pPr>
            <a:endParaRPr lang="zh-CN" altLang="en-US" sz="16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358775" y="1355985"/>
            <a:ext cx="5080000" cy="33718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600" dirty="0"/>
              <a:t>XML</a:t>
            </a:r>
            <a:r>
              <a:rPr lang="zh-CN" altLang="en-US" sz="1600" dirty="0"/>
              <a:t>是连接医生经验与</a:t>
            </a:r>
            <a:r>
              <a:rPr lang="en-US" altLang="zh-CN" sz="1600" dirty="0"/>
              <a:t>CT</a:t>
            </a:r>
            <a:r>
              <a:rPr lang="zh-CN" altLang="en-US" sz="1600" dirty="0"/>
              <a:t>影像的桥梁。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765" y="1749267"/>
            <a:ext cx="5276850" cy="237172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233160" y="1431131"/>
            <a:ext cx="5080000" cy="33718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600" dirty="0"/>
              <a:t>ROI</a:t>
            </a:r>
            <a:r>
              <a:rPr lang="zh-CN" altLang="en-US" sz="1600" dirty="0"/>
              <a:t>轮廓坐标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160" y="1928230"/>
            <a:ext cx="5207065" cy="3498639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58775" y="4268391"/>
            <a:ext cx="5080000" cy="33718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1600" dirty="0"/>
              <a:t>结节编号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800" y="4377451"/>
            <a:ext cx="2895600" cy="233792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65761" y="1435122"/>
            <a:ext cx="5038725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经过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XML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批量解析：</a:t>
            </a:r>
          </a:p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原始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XML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1319 XML files</a:t>
            </a:r>
          </a:p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提取：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2017 pulmonary nodule records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65761" y="3321072"/>
            <a:ext cx="5038725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包含：</a:t>
            </a:r>
          </a:p>
          <a:p>
            <a:pPr>
              <a:buFont typeface="Arial" panose="020B0604020202020204"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UID </a:t>
            </a:r>
          </a:p>
          <a:p>
            <a:pPr>
              <a:buFont typeface="Arial" panose="020B0604020202020204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Series UID </a:t>
            </a:r>
          </a:p>
          <a:p>
            <a:pPr>
              <a:buFont typeface="Arial" panose="020B0604020202020204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Nodule ID </a:t>
            </a:r>
          </a:p>
          <a:p>
            <a:pPr>
              <a:buFont typeface="Arial" panose="020B0604020202020204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SOP UID </a:t>
            </a:r>
          </a:p>
          <a:p>
            <a:pPr>
              <a:buFont typeface="Arial" panose="020B0604020202020204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ROI contour points </a:t>
            </a:r>
          </a:p>
          <a:p>
            <a:pPr>
              <a:buFont typeface="Arial" panose="020B0604020202020204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Malignancy score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E51D045-E8E4-9FF3-9838-0573DA5BC9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9046" y="1352572"/>
            <a:ext cx="8026689" cy="415285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95275" y="363220"/>
            <a:ext cx="5080000" cy="8191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ct val="60000"/>
              </a:spcAft>
            </a:pPr>
            <a:r>
              <a:rPr lang="en-US" altLang="zh-CN" sz="1900" b="1" dirty="0"/>
              <a:t>Step 2   </a:t>
            </a:r>
            <a:r>
              <a:rPr lang="zh-CN" altLang="en-US" sz="1900" b="1" dirty="0"/>
              <a:t>空间配准与</a:t>
            </a:r>
            <a:r>
              <a:rPr lang="en-US" altLang="zh-CN" sz="1900" b="1" dirty="0"/>
              <a:t>UID</a:t>
            </a:r>
            <a:r>
              <a:rPr lang="zh-CN" altLang="en-US" sz="1900" b="1" dirty="0"/>
              <a:t>匹配</a:t>
            </a:r>
          </a:p>
          <a:p>
            <a:pPr>
              <a:spcAft>
                <a:spcPct val="60000"/>
              </a:spcAft>
            </a:pPr>
            <a:r>
              <a:rPr lang="en-US" altLang="zh-CN" sz="1600" b="1" dirty="0"/>
              <a:t>XML ↔ CT DICOM</a:t>
            </a:r>
            <a:r>
              <a:rPr lang="zh-CN" altLang="en-US" sz="1600" b="1" dirty="0"/>
              <a:t>精确对应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b="60336"/>
          <a:stretch>
            <a:fillRect/>
          </a:stretch>
        </p:blipFill>
        <p:spPr>
          <a:xfrm>
            <a:off x="420404" y="2115066"/>
            <a:ext cx="2929188" cy="26278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t="39682"/>
          <a:stretch>
            <a:fillRect/>
          </a:stretch>
        </p:blipFill>
        <p:spPr>
          <a:xfrm>
            <a:off x="3842828" y="1318773"/>
            <a:ext cx="3586480" cy="489343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EF768B9-2635-77C7-3427-EE7EA5DFB3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7673" y="676219"/>
            <a:ext cx="3085464" cy="585209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70B25C1-DAB0-FF6F-96DF-89BCF63C4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20" y="926465"/>
            <a:ext cx="4860290" cy="500507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101341C5-678F-D7FC-C188-C8560E2F0C6E}"/>
              </a:ext>
            </a:extLst>
          </p:cNvPr>
          <p:cNvSpPr txBox="1"/>
          <p:nvPr/>
        </p:nvSpPr>
        <p:spPr>
          <a:xfrm>
            <a:off x="5637498" y="55713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 建立CT-ROI映射表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A1FD351-519A-0E5F-4EB1-80138235B3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7498" y="1175115"/>
            <a:ext cx="6150543" cy="47564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58800" y="316865"/>
            <a:ext cx="8448040" cy="806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ct val="60000"/>
              </a:spcAft>
            </a:pPr>
            <a:r>
              <a:rPr lang="en-US" altLang="zh-CN" sz="1900" b="1" dirty="0"/>
              <a:t>Step 3    ROI Mask</a:t>
            </a:r>
            <a:r>
              <a:rPr lang="zh-CN" altLang="en-US" sz="1900" b="1" dirty="0"/>
              <a:t>三维重建</a:t>
            </a:r>
          </a:p>
          <a:p>
            <a:pPr>
              <a:spcAft>
                <a:spcPct val="60000"/>
              </a:spcAft>
            </a:pPr>
            <a:r>
              <a:rPr lang="zh-CN" altLang="zh-CN" sz="1600" dirty="0"/>
              <a:t>把医生的二维标注转换成 </a:t>
            </a:r>
            <a:r>
              <a:rPr lang="zh-CN" altLang="zh-CN" sz="1600" b="1" dirty="0"/>
              <a:t>机器学习和影像组学可以直接计算的三维ROI区域</a:t>
            </a:r>
            <a:endParaRPr lang="en-US" altLang="zh-CN" sz="1600" b="1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64930AF-1942-F033-4F84-A2E1D6937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454" y="1342734"/>
            <a:ext cx="5403866" cy="4724338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2C948AC8-E4F6-BFA2-4514-43D8C0697535}"/>
              </a:ext>
            </a:extLst>
          </p:cNvPr>
          <p:cNvSpPr txBox="1"/>
          <p:nvPr/>
        </p:nvSpPr>
        <p:spPr>
          <a:xfrm>
            <a:off x="6096000" y="4357154"/>
            <a:ext cx="473964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将专家标注的二维轮廓坐标转换为与CT空间一致的三维二值Mask，实现肺结节区域的</a:t>
            </a:r>
            <a:r>
              <a:rPr lang="zh-CN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数字化表达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，为后续</a:t>
            </a:r>
            <a:r>
              <a:rPr lang="zh-CN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影像组学特征提取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提供ROI基础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87B40600-51B5-434A-A5D8-F9DAF00F01A8}"/>
              </a:ext>
            </a:extLst>
          </p:cNvPr>
          <p:cNvPicPr>
            <a:picLocks/>
          </p:cNvPicPr>
          <p:nvPr/>
        </p:nvPicPr>
        <p:blipFill>
          <a:blip r:embed="rId3"/>
          <a:srcRect b="64785"/>
          <a:stretch>
            <a:fillRect/>
          </a:stretch>
        </p:blipFill>
        <p:spPr>
          <a:xfrm>
            <a:off x="5943600" y="1405577"/>
            <a:ext cx="5818764" cy="1263306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8F9CF051-1B32-63A5-9A67-FC3FE2DA5583}"/>
              </a:ext>
            </a:extLst>
          </p:cNvPr>
          <p:cNvPicPr>
            <a:picLocks/>
          </p:cNvPicPr>
          <p:nvPr/>
        </p:nvPicPr>
        <p:blipFill>
          <a:blip r:embed="rId4"/>
          <a:srcRect b="77946"/>
          <a:stretch>
            <a:fillRect/>
          </a:stretch>
        </p:blipFill>
        <p:spPr>
          <a:xfrm>
            <a:off x="5943600" y="2969937"/>
            <a:ext cx="4582164" cy="9181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5E45976-9FCF-5870-4BC4-E0566CFC3E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818" y="389085"/>
            <a:ext cx="5347562" cy="539707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8770188-BE41-7BB6-10AE-25A1E6295C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1900" y="113462"/>
            <a:ext cx="5151133" cy="546437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B2F5D33-8D40-C777-DB76-CA27080510A0}"/>
              </a:ext>
            </a:extLst>
          </p:cNvPr>
          <p:cNvSpPr txBox="1"/>
          <p:nvPr/>
        </p:nvSpPr>
        <p:spPr>
          <a:xfrm>
            <a:off x="6355080" y="575568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b="0" i="0" dirty="0">
                <a:effectLst/>
                <a:latin typeface="Color Emoji"/>
              </a:rPr>
              <a:t>体积 cm3: 2.1260416128463437</a:t>
            </a:r>
            <a:endParaRPr lang="zh-CN" altLang="en-US" sz="2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5E7ABC8-8C95-A9AD-D144-408972BF8543}"/>
              </a:ext>
            </a:extLst>
          </p:cNvPr>
          <p:cNvSpPr txBox="1"/>
          <p:nvPr/>
        </p:nvSpPr>
        <p:spPr>
          <a:xfrm>
            <a:off x="533400" y="5654040"/>
            <a:ext cx="48615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000" b="0" i="0" dirty="0">
                <a:effectLst/>
                <a:latin typeface="Color Emoji"/>
              </a:rPr>
              <a:t>CT: (136, 512, 512) </a:t>
            </a:r>
            <a:endParaRPr lang="en-US" altLang="zh-CN" sz="2000" b="0" i="0" dirty="0">
              <a:effectLst/>
              <a:latin typeface="Color Emoji"/>
            </a:endParaRPr>
          </a:p>
          <a:p>
            <a:r>
              <a:rPr lang="zh-CN" altLang="zh-CN" sz="2000" b="0" i="0" dirty="0">
                <a:effectLst/>
                <a:latin typeface="Color Emoji"/>
              </a:rPr>
              <a:t>ROI slices: [80 81 82 83 84 85 86]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F7C8550-340B-9D87-FEB9-F08460BCCD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1564640"/>
            <a:ext cx="12009120" cy="40030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32C98394-4600-8450-7863-AD6949BF7D72}"/>
              </a:ext>
            </a:extLst>
          </p:cNvPr>
          <p:cNvSpPr txBox="1"/>
          <p:nvPr/>
        </p:nvSpPr>
        <p:spPr>
          <a:xfrm>
            <a:off x="640080" y="30167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b="1" dirty="0"/>
              <a:t>Phase 2 · ROI与影像组学特征计算</a:t>
            </a:r>
            <a:endParaRPr lang="en-US" altLang="zh-CN" b="1" dirty="0"/>
          </a:p>
          <a:p>
            <a:pPr>
              <a:buNone/>
            </a:pPr>
            <a:endParaRPr lang="zh-CN" altLang="zh-CN" b="1" dirty="0"/>
          </a:p>
          <a:p>
            <a:pPr>
              <a:buNone/>
            </a:pPr>
            <a:r>
              <a:rPr lang="zh-CN" altLang="zh-CN" b="1" dirty="0"/>
              <a:t>ROI Mask → PyRadiomics → Quantitative Features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D82973C-FABA-AE1C-C80E-6B055AF300E5}"/>
              </a:ext>
            </a:extLst>
          </p:cNvPr>
          <p:cNvSpPr txBox="1"/>
          <p:nvPr/>
        </p:nvSpPr>
        <p:spPr>
          <a:xfrm>
            <a:off x="640080" y="2017291"/>
            <a:ext cx="6096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Radiomics</a:t>
            </a:r>
            <a:r>
              <a:rPr lang="en-US" altLang="zh-C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特征数量: 107</a:t>
            </a:r>
            <a:endParaRPr lang="en-US" altLang="zh-CN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zh-C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Feature类别统计</a:t>
            </a:r>
            <a:endParaRPr lang="en-US" altLang="zh-CN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zh-C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Shape : 14</a:t>
            </a:r>
            <a:endParaRPr lang="en-US" altLang="zh-CN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zh-C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FirstOrder : 18</a:t>
            </a:r>
            <a:endParaRPr lang="en-US" altLang="zh-CN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zh-C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GLCM : 24</a:t>
            </a:r>
            <a:endParaRPr lang="en-US" altLang="zh-CN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zh-C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GLDM : 14</a:t>
            </a:r>
            <a:endParaRPr lang="en-US" altLang="zh-CN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zh-C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GLRLM : 16</a:t>
            </a:r>
            <a:endParaRPr lang="en-US" altLang="zh-CN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zh-C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GLSZM : 16</a:t>
            </a:r>
            <a:endParaRPr lang="en-US" altLang="zh-CN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zh-C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NGTDM : 5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4C58921-FDA5-8FED-A5E5-1DE73FEBDF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9711" y="1722120"/>
            <a:ext cx="7746694" cy="1546032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B7698E5E-17C6-B763-DB42-20333D4A7335}"/>
              </a:ext>
            </a:extLst>
          </p:cNvPr>
          <p:cNvSpPr txBox="1"/>
          <p:nvPr/>
        </p:nvSpPr>
        <p:spPr>
          <a:xfrm>
            <a:off x="4275431" y="4379491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出现： (0.791014+0j) 这种形式，是因为 Python 读取/保存时把某些 numpy 数值类型写成了 complex 表示。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BBCB90C-B48F-FB86-F8CF-EB1DAD85F6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0075" y="198120"/>
            <a:ext cx="5931849" cy="64617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1AECFDA-F8F7-2C7F-BB2B-D7815B24807C}"/>
              </a:ext>
            </a:extLst>
          </p:cNvPr>
          <p:cNvSpPr txBox="1"/>
          <p:nvPr/>
        </p:nvSpPr>
        <p:spPr>
          <a:xfrm>
            <a:off x="322489" y="305192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Phase 3 </a:t>
            </a:r>
            <a:r>
              <a:rPr lang="en-US" altLang="zh-CN" dirty="0"/>
              <a:t>  </a:t>
            </a:r>
            <a:r>
              <a:rPr lang="zh-CN" altLang="zh-CN" dirty="0"/>
              <a:t>特征工程与机器学习建模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5256C38-2314-4909-7CD9-6F4844973D9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97"/>
          <a:stretch>
            <a:fillRect/>
          </a:stretch>
        </p:blipFill>
        <p:spPr>
          <a:xfrm>
            <a:off x="534761" y="777496"/>
            <a:ext cx="3629532" cy="577531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B5FE4AA-CBF1-FC40-3ED0-ADA9AADF62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282" y="3037054"/>
            <a:ext cx="6897064" cy="360995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667DCE8-5EBA-5441-687A-59F06E9F0B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283" y="489858"/>
            <a:ext cx="6897063" cy="236253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054B2F5-A441-0BE2-B223-A070C85932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330" y="1124807"/>
            <a:ext cx="5734670" cy="460838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A7FA0C8-2DED-823C-4C42-75B3B27E54F2}"/>
              </a:ext>
            </a:extLst>
          </p:cNvPr>
          <p:cNvSpPr txBox="1"/>
          <p:nvPr/>
        </p:nvSpPr>
        <p:spPr>
          <a:xfrm>
            <a:off x="6096000" y="452149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SVM参数优化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5E1261C-9A06-A05F-6252-CF1551EC05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0865" y="986962"/>
            <a:ext cx="4934639" cy="338184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7C81338-710B-59D9-DF84-3AD0782E71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0865" y="4534290"/>
            <a:ext cx="4601217" cy="226726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E14A47A-885F-47DD-B91A-E62F9710F8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9973" y="121221"/>
            <a:ext cx="8454861" cy="661555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C191DE2-7123-B6B7-E4DF-CC71204DEA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713" y="106135"/>
            <a:ext cx="5619827" cy="664572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B81F14E-CD60-5AB2-5CAE-41539F86DEF8}"/>
              </a:ext>
            </a:extLst>
          </p:cNvPr>
          <p:cNvSpPr txBox="1"/>
          <p:nvPr/>
        </p:nvSpPr>
        <p:spPr>
          <a:xfrm>
            <a:off x="6422462" y="2489925"/>
            <a:ext cx="60987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b="0" i="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类别2 recall = 0.04</a:t>
            </a:r>
            <a:endParaRPr lang="en-US" altLang="zh-CN" sz="2400" b="0" i="0" dirty="0"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zh-CN" sz="2400" b="0" i="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类别4 recall = 0 </a:t>
            </a:r>
            <a:endParaRPr lang="en-US" altLang="zh-CN" sz="2400" b="0" i="0" dirty="0"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zh-CN" sz="2400" b="0" i="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模型大量预测为类别3 </a:t>
            </a:r>
            <a:endParaRPr lang="en-US" altLang="zh-CN" sz="2400" b="0" i="0" dirty="0"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zh-CN" sz="2400" b="0" i="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这是典型的类别权重偏置问题。</a:t>
            </a:r>
            <a:r>
              <a:rPr lang="zh-CN" altLang="en-US" sz="2400" b="0" i="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（？）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527E527-2A77-A706-B86A-9F339BE2FA0B}"/>
              </a:ext>
            </a:extLst>
          </p:cNvPr>
          <p:cNvSpPr txBox="1"/>
          <p:nvPr/>
        </p:nvSpPr>
        <p:spPr>
          <a:xfrm>
            <a:off x="430007" y="1519005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不同模型有互补性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0EA7C82-6CF3-BBCC-7673-C0161C3ED0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007" y="2596799"/>
            <a:ext cx="5665994" cy="212618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816664A-52F4-9A82-D44B-41782FC52A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7538" y="486172"/>
            <a:ext cx="5067976" cy="593600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6944FA7-451A-2757-61CB-61B777DA114A}"/>
              </a:ext>
            </a:extLst>
          </p:cNvPr>
          <p:cNvSpPr txBox="1"/>
          <p:nvPr/>
        </p:nvSpPr>
        <p:spPr>
          <a:xfrm>
            <a:off x="257175" y="272534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Phase 4 </a:t>
            </a:r>
            <a:r>
              <a:rPr lang="en-US" altLang="zh-CN" dirty="0"/>
              <a:t> </a:t>
            </a:r>
            <a:r>
              <a:rPr lang="zh-CN" altLang="zh-CN" dirty="0"/>
              <a:t>模型评估与归因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DC656E3-3A1A-1E6D-9EBA-21CF0F9AA5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175" y="1371600"/>
            <a:ext cx="5785745" cy="521386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E3BB09C-686C-8B38-8001-A074F82E409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2920" y="1943100"/>
            <a:ext cx="5619232" cy="395578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6345CCE-5F1A-56EE-8961-997C7F8A3D2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771" y="237103"/>
            <a:ext cx="10638620" cy="639230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9AC0C1A-2C91-E449-3C59-903A98C43F22}"/>
              </a:ext>
            </a:extLst>
          </p:cNvPr>
          <p:cNvSpPr txBox="1"/>
          <p:nvPr/>
        </p:nvSpPr>
        <p:spPr>
          <a:xfrm>
            <a:off x="408773" y="282570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进一步优化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8014109-9ED9-1DC3-E449-25F32A3EF8F4}"/>
              </a:ext>
            </a:extLst>
          </p:cNvPr>
          <p:cNvSpPr txBox="1"/>
          <p:nvPr/>
        </p:nvSpPr>
        <p:spPr>
          <a:xfrm>
            <a:off x="893989" y="1202118"/>
            <a:ext cx="659446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zh-CN" altLang="zh-CN" dirty="0"/>
              <a:t>特征工程与多模态融合优化</a:t>
            </a:r>
            <a:endParaRPr lang="en-US" altLang="zh-CN" dirty="0"/>
          </a:p>
          <a:p>
            <a:r>
              <a:rPr lang="zh-CN" altLang="zh-CN" dirty="0"/>
              <a:t>引入</a:t>
            </a:r>
            <a:r>
              <a:rPr lang="zh-CN" altLang="zh-CN" b="1" dirty="0"/>
              <a:t>深度学习自动特征学习（Deep Feature Learning）</a:t>
            </a:r>
          </a:p>
          <a:p>
            <a:r>
              <a:rPr lang="zh-CN" altLang="zh-CN" dirty="0"/>
              <a:t>利用卷积神经网络（CNN）直接从CT图像中学习高维特征表示。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CF75FB7-090D-6C46-3F1C-21A1BD0C1CD1}"/>
              </a:ext>
            </a:extLst>
          </p:cNvPr>
          <p:cNvSpPr txBox="1"/>
          <p:nvPr/>
        </p:nvSpPr>
        <p:spPr>
          <a:xfrm>
            <a:off x="893990" y="2803463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2. </a:t>
            </a:r>
            <a:r>
              <a:rPr lang="zh-CN" altLang="en-US" dirty="0"/>
              <a:t>变量不够？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8510830-BE31-5E8F-B434-5EE250C0212C}"/>
              </a:ext>
            </a:extLst>
          </p:cNvPr>
          <p:cNvSpPr txBox="1"/>
          <p:nvPr/>
        </p:nvSpPr>
        <p:spPr>
          <a:xfrm>
            <a:off x="893990" y="3833693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3. 自监督学习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880AB9D-312A-A622-DC1F-C0744B207B6C}"/>
              </a:ext>
            </a:extLst>
          </p:cNvPr>
          <p:cNvSpPr txBox="1"/>
          <p:nvPr/>
        </p:nvSpPr>
        <p:spPr>
          <a:xfrm>
            <a:off x="893990" y="4863923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4. 类别不平衡与代价敏感学习优化</a:t>
            </a:r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834</TotalTime>
  <Words>1102</Words>
  <Application>Microsoft Office PowerPoint</Application>
  <PresentationFormat>宽屏</PresentationFormat>
  <Paragraphs>75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27</vt:i4>
      </vt:variant>
    </vt:vector>
  </HeadingPairs>
  <TitlesOfParts>
    <vt:vector size="37" baseType="lpstr">
      <vt:lpstr>Color Emoji</vt:lpstr>
      <vt:lpstr>quote-cjk-patch</vt:lpstr>
      <vt:lpstr>等线</vt:lpstr>
      <vt:lpstr>等线 Light</vt:lpstr>
      <vt:lpstr>黑体</vt:lpstr>
      <vt:lpstr>宋体</vt:lpstr>
      <vt:lpstr>Arial</vt:lpstr>
      <vt:lpstr>Times New Roman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ds xu</dc:creator>
  <cp:lastModifiedBy>ds xu</cp:lastModifiedBy>
  <cp:revision>17</cp:revision>
  <dcterms:created xsi:type="dcterms:W3CDTF">2026-07-31T02:41:00Z</dcterms:created>
  <dcterms:modified xsi:type="dcterms:W3CDTF">2026-08-01T06:03:26Z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78407EA5ABCB4D5185E4E7849889AC69_12</vt:lpwstr>
  </property>
</Properties>
</file>