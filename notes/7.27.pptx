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58" r:id="rId3"/>
    <p:sldId id="260" r:id="rId4"/>
    <p:sldId id="261" r:id="rId5"/>
    <p:sldId id="262" r:id="rId6"/>
    <p:sldId id="256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582" autoAdjust="0"/>
  </p:normalViewPr>
  <p:slideViewPr>
    <p:cSldViewPr snapToGrid="0">
      <p:cViewPr varScale="1">
        <p:scale>
          <a:sx n="61" d="100"/>
          <a:sy n="61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EE590-87C0-480C-AB90-89F93A39B159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5BF80-F11B-4A99-8D47-7D31D1D04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获取：指通过</a:t>
            </a:r>
            <a:r>
              <a:rPr lang="en-US" altLang="zh-CN" dirty="0"/>
              <a:t>CT</a:t>
            </a:r>
            <a:r>
              <a:rPr lang="zh-CN" altLang="en-US" dirty="0"/>
              <a:t>、</a:t>
            </a:r>
            <a:r>
              <a:rPr lang="en-US" altLang="zh-CN" dirty="0"/>
              <a:t>PET</a:t>
            </a:r>
            <a:r>
              <a:rPr lang="zh-CN" altLang="en-US" dirty="0"/>
              <a:t>或</a:t>
            </a:r>
            <a:r>
              <a:rPr lang="en-US" altLang="zh-CN" dirty="0"/>
              <a:t>MRI</a:t>
            </a:r>
            <a:r>
              <a:rPr lang="zh-CN" altLang="en-US" dirty="0"/>
              <a:t>等设备扫描患者，得到原始的医学影像（</a:t>
            </a:r>
            <a:r>
              <a:rPr lang="en-US" altLang="zh-CN" dirty="0"/>
              <a:t>DICOM</a:t>
            </a:r>
            <a:r>
              <a:rPr lang="zh-CN" altLang="en-US" dirty="0"/>
              <a:t>格式）。</a:t>
            </a:r>
          </a:p>
          <a:p>
            <a:r>
              <a:rPr lang="zh-CN" altLang="en-US" dirty="0"/>
              <a:t>分割：这是最关键的一步。通常由医生手动勾勒（或</a:t>
            </a:r>
            <a:r>
              <a:rPr lang="en-US" altLang="zh-CN" dirty="0"/>
              <a:t>AI</a:t>
            </a:r>
            <a:r>
              <a:rPr lang="zh-CN" altLang="en-US" dirty="0"/>
              <a:t>辅助自动勾勒）出肿瘤的边界（即感兴趣区域，</a:t>
            </a:r>
            <a:r>
              <a:rPr lang="en-US" altLang="zh-CN" dirty="0"/>
              <a:t>ROI</a:t>
            </a:r>
            <a:r>
              <a:rPr lang="zh-CN" altLang="en-US" dirty="0"/>
              <a:t>）。后续所有提取的特征都严格基于这个划定的区域，如果画不准，后面的分析全都会出错。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BF80-F11B-4A99-8D47-7D31D1D047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168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5BF80-F11B-4A99-8D47-7D31D1D047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87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903ED-305D-68C9-9A40-78E134E1F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9AC7C3-0679-BCB7-6775-0995E78AB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BDAEA4-53C8-D265-D792-16E6D4C0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B4A05-B901-A2C7-8A75-DBEBB919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D1D94-C7AA-196F-A9B7-0D2B0BAD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75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C87A8-8167-96C1-B04A-4FC5093A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701F4-F46D-1F2B-D845-B4CD484C8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FB618-D773-A9B0-7A07-B929E1E7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AB9313-6FA5-2898-5A72-951B10EF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633CE-BB6C-8895-C208-03E4A311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66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8543C-F553-92C0-78AA-287DDAA1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A822DE-E96D-D78D-D964-8E1FAA328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B4C14-0827-AD68-D29E-6BE63F76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85A676-11F4-22F6-0EF7-96FBD3CF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9AA91-2B60-4B33-A527-FCE4E1FA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6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09D21-D56A-9AE1-F488-AA829308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BB723E-A5E0-FA5A-644A-1313B3BE8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7445B2-6DA1-EF2C-920F-E2D3D7016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793C26-7789-5B25-C011-06478F72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694FD-28E9-C682-5388-97FBF75F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F15C48-FB84-CA20-B6B9-940622F8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573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44F37-FD67-71A2-7C4E-01A29B13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524E8F-DECD-17DD-35A6-179C2235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499E1E-0318-4DBA-4D12-60C14B35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6E76E7-33FF-3E6B-E0CB-9D4D167D3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730458-0521-6184-CF3D-5B3B27A13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779733-3412-C408-4678-72C74B4C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9B5A27-DF74-875B-6413-A27C9265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F88DA2-BB49-B6FD-94B3-1CB21088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03E1B-D664-44B0-BF5C-BC462210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587C63-DE0D-B3D2-50FE-7D5FBE6A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91E0C0-F759-BE5A-E0AF-527439E0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86FD96-87DF-C80C-363D-E4A263CC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82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68109B-8EA3-DB94-E52C-DD069DD6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DD6A3-4FCC-82DF-6941-8A4AD847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7A803E-E5CC-822D-FF43-2FC83947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2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2647C-84EA-4F47-35CD-7BF7EA20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ADE15-21AE-E51F-F5F0-104AE1CD7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37EBF9-8BCC-0BCD-E618-F48AEDF80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0C5937-E3DA-2156-EC36-24C8FA52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E0F67-BBCC-8EC1-905E-F0FED55F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634EB8-1120-69BE-275D-167DE7C2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4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DA54A-C136-717C-F587-D9026E4D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DC536D-4006-1CDA-2D2F-B37834943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897886-0AC1-D589-8F78-332E268FC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6F735-8DB4-690F-4B96-60E8091E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3F3413-F63B-3F14-79BC-B0AE1416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DDBBA-83CB-9064-B8FA-0E136EC3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7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302AB-8E8D-BFCD-B05F-58640E16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2012C8-DC20-E837-5461-ADDC004A0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1B022C-2005-724C-453D-33B867955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5F8067-65B5-9932-994C-E9EA66CB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A8BCF-5EA1-6EEC-89C9-62D4CF7B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7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3A423F-7BC6-5FF1-777D-BAE40D7A0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B3F2C2-CB8A-62DC-0F5E-037CF40E6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A1430-6D20-1331-17FF-FBB8BA11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00F76-D556-6DC5-E327-550C437F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330383-934B-615B-9318-0A73E844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58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4D6B8D-8714-4FA6-8321-8EF1699C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6619D6-EFC6-544D-CCA1-A29A73E5C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FDD94-F75E-C75D-7CEA-F1B19E63C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B300B-3B27-4EC9-B9AB-F3598F57D10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72D86-0249-DB04-E3F5-024A5CEDE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57B31-D8C7-4CDE-0D39-DD38A2D2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11CBB-2795-46CD-B9DF-70296DEF7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0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C303-687A-C168-430E-C9AE77EC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1002331-7E35-5F25-1A5C-CBCC115D688E}"/>
              </a:ext>
            </a:extLst>
          </p:cNvPr>
          <p:cNvSpPr txBox="1"/>
          <p:nvPr/>
        </p:nvSpPr>
        <p:spPr>
          <a:xfrm>
            <a:off x="2251841" y="2844225"/>
            <a:ext cx="76883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PyRadiomics特征提取与影像组学特征筛选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66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C5EE-0AB6-0F1A-BEDE-DCD7B444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DC99485-C7F1-2FA8-5CE3-69302BD373BF}"/>
              </a:ext>
            </a:extLst>
          </p:cNvPr>
          <p:cNvSpPr txBox="1"/>
          <p:nvPr/>
        </p:nvSpPr>
        <p:spPr>
          <a:xfrm>
            <a:off x="861849" y="785676"/>
            <a:ext cx="52341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传统机器学习（如 Logistic Regression、SVM、Random Forest、XGBoost）要求输入的是固定长度的数值特征向量。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7B21F9-4186-B1E5-76C2-83441B234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630" y="2096183"/>
            <a:ext cx="8396195" cy="233918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4BBF41B-F1D7-C4BE-7D3A-3649E9213D9D}"/>
              </a:ext>
            </a:extLst>
          </p:cNvPr>
          <p:cNvSpPr txBox="1"/>
          <p:nvPr/>
        </p:nvSpPr>
        <p:spPr>
          <a:xfrm>
            <a:off x="1537465" y="4897532"/>
            <a:ext cx="9382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机器学习真正学习的不是图片，而是这个"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 × 特征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"的数据矩阵。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A9174F-EA4F-E7A9-801B-EE4D85CC0B7D}"/>
              </a:ext>
            </a:extLst>
          </p:cNvPr>
          <p:cNvSpPr txBox="1"/>
          <p:nvPr/>
        </p:nvSpPr>
        <p:spPr>
          <a:xfrm>
            <a:off x="1537464" y="5578156"/>
            <a:ext cx="7617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图片本身也是数字矩阵？为什么不能直接输入？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高维，小样本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849C80-5170-4A2F-7014-FDA376E52BFD}"/>
              </a:ext>
            </a:extLst>
          </p:cNvPr>
          <p:cNvSpPr txBox="1"/>
          <p:nvPr/>
        </p:nvSpPr>
        <p:spPr>
          <a:xfrm>
            <a:off x="273269" y="2145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PyRadiomics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38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40A3-3D88-F1E0-3D8D-CC4BED24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F194D0D-7049-A5F7-5E3C-F59279E5E12C}"/>
              </a:ext>
            </a:extLst>
          </p:cNvPr>
          <p:cNvSpPr txBox="1"/>
          <p:nvPr/>
        </p:nvSpPr>
        <p:spPr>
          <a:xfrm>
            <a:off x="105104" y="1253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PyRadiomics整体流程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C496B6-40F1-BF1A-D912-604E6B76D94D}"/>
              </a:ext>
            </a:extLst>
          </p:cNvPr>
          <p:cNvSpPr txBox="1"/>
          <p:nvPr/>
        </p:nvSpPr>
        <p:spPr>
          <a:xfrm>
            <a:off x="599090" y="7302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Step1 ROI提取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43E339-DDAB-9A87-D9BB-E90A1F6C8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552" y="1455506"/>
            <a:ext cx="5896798" cy="22672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2A1E51B-DEB6-5E8D-C615-8E53AC499E4A}"/>
              </a:ext>
            </a:extLst>
          </p:cNvPr>
          <p:cNvSpPr txBox="1"/>
          <p:nvPr/>
        </p:nvSpPr>
        <p:spPr>
          <a:xfrm>
            <a:off x="1965435" y="7302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zh-CN" altLang="zh-CN" dirty="0"/>
              <a:t>确定分析区域</a:t>
            </a:r>
            <a:r>
              <a:rPr lang="zh-CN" altLang="en-US" dirty="0"/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B74B9D-773D-1F7B-3992-DB26F02F4B4E}"/>
              </a:ext>
            </a:extLst>
          </p:cNvPr>
          <p:cNvSpPr txBox="1"/>
          <p:nvPr/>
        </p:nvSpPr>
        <p:spPr>
          <a:xfrm>
            <a:off x="567559" y="43907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Step2 图像预处理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C8F4DB-02EF-800A-AA82-F12628493D8C}"/>
              </a:ext>
            </a:extLst>
          </p:cNvPr>
          <p:cNvSpPr txBox="1"/>
          <p:nvPr/>
        </p:nvSpPr>
        <p:spPr>
          <a:xfrm>
            <a:off x="2590552" y="52630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normalize=False</a:t>
            </a:r>
          </a:p>
          <a:p>
            <a:r>
              <a:rPr lang="zh-CN" altLang="en-US" dirty="0"/>
              <a:t>preCrop=True</a:t>
            </a:r>
          </a:p>
        </p:txBody>
      </p:sp>
    </p:spTree>
    <p:extLst>
      <p:ext uri="{BB962C8B-B14F-4D97-AF65-F5344CB8AC3E}">
        <p14:creationId xmlns:p14="http://schemas.microsoft.com/office/powerpoint/2010/main" val="407305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18AB-A5B2-949F-F814-8D217E3D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08E4270-8D02-FEA4-FF82-C483768AD9A2}"/>
              </a:ext>
            </a:extLst>
          </p:cNvPr>
          <p:cNvSpPr txBox="1"/>
          <p:nvPr/>
        </p:nvSpPr>
        <p:spPr>
          <a:xfrm>
            <a:off x="536028" y="48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Step3 灰度离散化（Discretization）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C49F71-7A0F-C056-621D-1290A8988D0C}"/>
              </a:ext>
            </a:extLst>
          </p:cNvPr>
          <p:cNvSpPr txBox="1"/>
          <p:nvPr/>
        </p:nvSpPr>
        <p:spPr>
          <a:xfrm>
            <a:off x="4267200" y="48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针对</a:t>
            </a:r>
            <a:r>
              <a:rPr lang="zh-CN" altLang="zh-CN" dirty="0"/>
              <a:t>纹理特征（Texture Features）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73D28CD-61EA-821B-C909-EAAB1C54E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1" y="1448738"/>
            <a:ext cx="3561419" cy="37013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7A9E84-3B00-7343-252D-BF08A2EFEA1E}"/>
              </a:ext>
            </a:extLst>
          </p:cNvPr>
          <p:cNvSpPr txBox="1"/>
          <p:nvPr/>
        </p:nvSpPr>
        <p:spPr>
          <a:xfrm>
            <a:off x="4698124" y="34290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用binWidth=25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035B97-37BA-38A7-9406-23414A54CE38}"/>
              </a:ext>
            </a:extLst>
          </p:cNvPr>
          <p:cNvSpPr txBox="1"/>
          <p:nvPr/>
        </p:nvSpPr>
        <p:spPr>
          <a:xfrm>
            <a:off x="4698124" y="4009698"/>
            <a:ext cx="6905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把灰度值进行分组，使相近灰度合并到同一个等级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10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200D-72CA-16AC-2C7E-31F1170E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D41175-49C9-DF99-3201-2D91B8A69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1" y="1584579"/>
            <a:ext cx="5566452" cy="36888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4AF16C8-7D43-3A17-A675-C549481E0C48}"/>
              </a:ext>
            </a:extLst>
          </p:cNvPr>
          <p:cNvSpPr txBox="1"/>
          <p:nvPr/>
        </p:nvSpPr>
        <p:spPr>
          <a:xfrm>
            <a:off x="451945" y="549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Step4 计算7类Radiomics特征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AE8A84F-4B2B-C196-4CA4-CB5E4B18F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614" y="1086611"/>
            <a:ext cx="3232930" cy="488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4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医学影像组学特征值（Radiomics Features）提取之Pyradiomics（二）使用篇——转载 - 编程coding小白 - 博客园">
            <a:extLst>
              <a:ext uri="{FF2B5EF4-FFF2-40B4-BE49-F238E27FC236}">
                <a16:creationId xmlns:a16="http://schemas.microsoft.com/office/drawing/2014/main" id="{77C71442-99AA-5A9B-5DCE-FF187E478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309" y="609600"/>
            <a:ext cx="7835691" cy="4000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26DA00-505E-2022-CBE0-651EA7CF9AA5}"/>
              </a:ext>
            </a:extLst>
          </p:cNvPr>
          <p:cNvSpPr txBox="1"/>
          <p:nvPr/>
        </p:nvSpPr>
        <p:spPr>
          <a:xfrm>
            <a:off x="1602171" y="4610100"/>
            <a:ext cx="2495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i="0" dirty="0">
                <a:effectLst/>
                <a:latin typeface="quote-cjk-patch"/>
              </a:rPr>
              <a:t>图像获取与肿瘤分割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0737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B5A4-7790-DA3E-C7B9-2AD3C332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809B4D-BEDF-E3F6-6210-5D4495A33A93}"/>
              </a:ext>
            </a:extLst>
          </p:cNvPr>
          <p:cNvSpPr txBox="1"/>
          <p:nvPr/>
        </p:nvSpPr>
        <p:spPr>
          <a:xfrm>
            <a:off x="325821" y="3566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特征筛选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828D31-E564-9268-4FF9-FC23C1870D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77" b="22314"/>
          <a:stretch>
            <a:fillRect/>
          </a:stretch>
        </p:blipFill>
        <p:spPr>
          <a:xfrm>
            <a:off x="715727" y="2030170"/>
            <a:ext cx="7737800" cy="29272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2B409B-A55B-1765-4373-B190EB746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993" y="2143387"/>
            <a:ext cx="3448531" cy="9526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82AF24-8B19-85E6-4077-5C67D0F8F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129" y="3004390"/>
            <a:ext cx="1905266" cy="10193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56B1604-7A55-B7FF-2B2C-09F04096E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675" y="5152715"/>
            <a:ext cx="3419952" cy="4477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917C597-476E-0857-3B90-3AA5A94BA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675" y="5663067"/>
            <a:ext cx="1819529" cy="8383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3AFD0E-2FDC-6157-B622-899125D366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8984" y="5218269"/>
            <a:ext cx="3334215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9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472</Words>
  <Application>Microsoft Office PowerPoint</Application>
  <PresentationFormat>宽屏</PresentationFormat>
  <Paragraphs>22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quote-cjk-patch</vt:lpstr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xu</dc:creator>
  <cp:lastModifiedBy>ds xu</cp:lastModifiedBy>
  <cp:revision>5</cp:revision>
  <dcterms:created xsi:type="dcterms:W3CDTF">2026-07-27T01:10:57Z</dcterms:created>
  <dcterms:modified xsi:type="dcterms:W3CDTF">2026-07-27T03:15:05Z</dcterms:modified>
</cp:coreProperties>
</file>