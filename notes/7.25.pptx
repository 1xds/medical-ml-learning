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2"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2A9B370-7F4C-4552-8B28-4CD526BDEA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6D2D96-027C-4724-8C9F-37E0C6F5908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A9B370-7F4C-4552-8B28-4CD526BDEA9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D2D96-027C-4724-8C9F-37E0C6F5908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83295" y="2844225"/>
            <a:ext cx="8225409" cy="584775"/>
          </a:xfrm>
          <a:prstGeom prst="rect">
            <a:avLst/>
          </a:prstGeom>
          <a:noFill/>
        </p:spPr>
        <p:txBody>
          <a:bodyPr wrap="square">
            <a:spAutoFit/>
          </a:bodyPr>
          <a:lstStyle/>
          <a:p>
            <a:r>
              <a:rPr lang="zh-CN" altLang="zh-CN" sz="3200" dirty="0">
                <a:latin typeface="Times New Roman" panose="02020603050405020304" pitchFamily="18" charset="0"/>
                <a:cs typeface="Times New Roman" panose="02020603050405020304" pitchFamily="18" charset="0"/>
              </a:rPr>
              <a:t>BUSI超声影像组学</a:t>
            </a:r>
            <a:r>
              <a:rPr lang="zh-CN" altLang="en-US" sz="3200" dirty="0">
                <a:latin typeface="Times New Roman" panose="02020603050405020304" pitchFamily="18" charset="0"/>
                <a:cs typeface="Times New Roman" panose="02020603050405020304" pitchFamily="18" charset="0"/>
              </a:rPr>
              <a:t>作业</a:t>
            </a:r>
            <a:r>
              <a:rPr lang="zh-CN" altLang="zh-CN" sz="3200" dirty="0">
                <a:latin typeface="Times New Roman" panose="02020603050405020304" pitchFamily="18" charset="0"/>
                <a:cs typeface="Times New Roman" panose="02020603050405020304" pitchFamily="18" charset="0"/>
              </a:rPr>
              <a:t>中的问题定位与解决</a:t>
            </a:r>
            <a:endParaRPr lang="zh-CN" alt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7160" y="244086"/>
            <a:ext cx="6096000" cy="461665"/>
          </a:xfrm>
          <a:prstGeom prst="rect">
            <a:avLst/>
          </a:prstGeom>
          <a:noFill/>
        </p:spPr>
        <p:txBody>
          <a:bodyPr wrap="square">
            <a:spAutoFit/>
          </a:bodyPr>
          <a:lstStyle/>
          <a:p>
            <a:r>
              <a:rPr lang="zh-CN" altLang="zh-CN" sz="2400" dirty="0"/>
              <a:t>问题一：PyRadiomics 无法导入</a:t>
            </a:r>
            <a:endParaRPr lang="zh-CN" altLang="en-US" sz="2400"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1727" y="928994"/>
            <a:ext cx="5815391" cy="1952395"/>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727" y="3023204"/>
            <a:ext cx="5815391" cy="3460981"/>
          </a:xfrm>
          <a:prstGeom prst="rect">
            <a:avLst/>
          </a:prstGeom>
        </p:spPr>
      </p:pic>
      <p:sp>
        <p:nvSpPr>
          <p:cNvPr id="9" name="文本框 8"/>
          <p:cNvSpPr txBox="1"/>
          <p:nvPr/>
        </p:nvSpPr>
        <p:spPr>
          <a:xfrm>
            <a:off x="6553200" y="1531083"/>
            <a:ext cx="5161280" cy="4524315"/>
          </a:xfrm>
          <a:prstGeom prst="rect">
            <a:avLst/>
          </a:prstGeom>
          <a:noFill/>
        </p:spPr>
        <p:txBody>
          <a:bodyPr wrap="square">
            <a:spAutoFit/>
          </a:bodyPr>
          <a:lstStyle/>
          <a:p>
            <a:r>
              <a:rPr lang="en-US" altLang="zh-CN" dirty="0"/>
              <a:t>1.</a:t>
            </a:r>
            <a:r>
              <a:rPr lang="zh-CN" altLang="zh-CN" dirty="0"/>
              <a:t>在当前 VSCode 使用的 Python 环境（Python 3.12）中执行pip install pyradiomics</a:t>
            </a:r>
            <a:endParaRPr lang="en-US" altLang="zh-CN" dirty="0"/>
          </a:p>
          <a:p>
            <a:endParaRPr lang="zh-CN" altLang="zh-CN" dirty="0"/>
          </a:p>
          <a:p>
            <a:r>
              <a:rPr lang="en-US" altLang="zh-CN" dirty="0"/>
              <a:t>2.</a:t>
            </a:r>
            <a:r>
              <a:rPr lang="zh-CN" altLang="en-US" dirty="0"/>
              <a:t>conda install -c conda-forge pyradiomics</a:t>
            </a:r>
            <a:endParaRPr lang="en-US" altLang="zh-CN" dirty="0"/>
          </a:p>
          <a:p>
            <a:r>
              <a:rPr lang="zh-CN" altLang="zh-CN" dirty="0"/>
              <a:t>Conda 仓库中无法获取对应版本的 PyRadiomics</a:t>
            </a:r>
            <a:endParaRPr lang="en-US" altLang="zh-CN" dirty="0"/>
          </a:p>
          <a:p>
            <a:endParaRPr lang="en-US" altLang="zh-CN" dirty="0"/>
          </a:p>
          <a:p>
            <a:r>
              <a:rPr lang="en-US" altLang="zh-CN" dirty="0"/>
              <a:t>3.</a:t>
            </a:r>
            <a:r>
              <a:rPr lang="it-IT" altLang="zh-CN" dirty="0"/>
              <a:t> conda create -n busi311 python=3.11</a:t>
            </a:r>
            <a:endParaRPr lang="it-IT" altLang="zh-CN" dirty="0"/>
          </a:p>
          <a:p>
            <a:r>
              <a:rPr lang="zh-CN" altLang="zh-CN" dirty="0"/>
              <a:t>虽Python 版本降低到 3.11，但仍安装失败，说明问题并非仅由 Python 版本导致，而是官方 PyPI 安装包在 Windows 平台存在构建兼容性问题。</a:t>
            </a:r>
            <a:endParaRPr lang="en-US" altLang="zh-CN" dirty="0"/>
          </a:p>
          <a:p>
            <a:endParaRPr lang="en-US" altLang="zh-CN" dirty="0"/>
          </a:p>
          <a:p>
            <a:r>
              <a:rPr lang="en-US" altLang="zh-CN" dirty="0">
                <a:solidFill>
                  <a:srgbClr val="FF0000"/>
                </a:solidFill>
              </a:rPr>
              <a:t>4. pip install </a:t>
            </a:r>
            <a:r>
              <a:rPr lang="en-US" altLang="zh-CN" dirty="0" err="1">
                <a:solidFill>
                  <a:srgbClr val="FF0000"/>
                </a:solidFill>
              </a:rPr>
              <a:t>git+https</a:t>
            </a:r>
            <a:r>
              <a:rPr lang="en-US" altLang="zh-CN" dirty="0">
                <a:solidFill>
                  <a:srgbClr val="FF0000"/>
                </a:solidFill>
              </a:rPr>
              <a:t>://github.com/AIM-Harvard/</a:t>
            </a:r>
            <a:r>
              <a:rPr lang="en-US" altLang="zh-CN" dirty="0" err="1">
                <a:solidFill>
                  <a:srgbClr val="FF0000"/>
                </a:solidFill>
              </a:rPr>
              <a:t>pyradiomics.git</a:t>
            </a:r>
            <a:endParaRPr lang="en-US" altLang="zh-CN" dirty="0">
              <a:solidFill>
                <a:srgbClr val="FF0000"/>
              </a:solidFill>
            </a:endParaRPr>
          </a:p>
          <a:p>
            <a:r>
              <a:rPr lang="zh-CN" altLang="zh-CN" dirty="0"/>
              <a:t>安装过程成功完成，最终安装版本为</a:t>
            </a:r>
            <a:r>
              <a:rPr lang="zh-CN" altLang="en-US" dirty="0"/>
              <a:t>：</a:t>
            </a:r>
            <a:r>
              <a:rPr lang="zh-CN" altLang="zh-CN" dirty="0"/>
              <a:t>PyRadiomics 3.1.1.dev111</a:t>
            </a:r>
            <a:endParaRPr lang="zh-CN" altLang="zh-CN" dirty="0"/>
          </a:p>
          <a:p>
            <a:endParaRPr lang="zh-CN" altLang="en-US" dirty="0"/>
          </a:p>
        </p:txBody>
      </p:sp>
      <p:sp>
        <p:nvSpPr>
          <p:cNvPr id="11" name="文本框 10"/>
          <p:cNvSpPr txBox="1"/>
          <p:nvPr/>
        </p:nvSpPr>
        <p:spPr>
          <a:xfrm>
            <a:off x="1145286" y="638159"/>
            <a:ext cx="6094476" cy="276999"/>
          </a:xfrm>
          <a:prstGeom prst="rect">
            <a:avLst/>
          </a:prstGeom>
          <a:noFill/>
        </p:spPr>
        <p:txBody>
          <a:bodyPr wrap="square">
            <a:spAutoFit/>
          </a:bodyPr>
          <a:lstStyle/>
          <a:p>
            <a:r>
              <a:rPr lang="zh-CN" altLang="zh-CN" sz="1200" dirty="0"/>
              <a:t>将原本不可直接分析的医学图像转换为机器学习可以使用的数值特征</a:t>
            </a:r>
            <a:endParaRPr lang="zh-CN" alt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7160" y="244086"/>
            <a:ext cx="8238744" cy="461665"/>
          </a:xfrm>
          <a:prstGeom prst="rect">
            <a:avLst/>
          </a:prstGeom>
          <a:noFill/>
        </p:spPr>
        <p:txBody>
          <a:bodyPr wrap="square">
            <a:spAutoFit/>
          </a:bodyPr>
          <a:lstStyle/>
          <a:p>
            <a:r>
              <a:rPr lang="zh-CN" altLang="zh-CN" sz="2400" dirty="0"/>
              <a:t>问题二：PyRadiomics 提取纹理特征失败（GLCM Failed）</a:t>
            </a:r>
            <a:endParaRPr lang="zh-CN" altLang="en-US" sz="2400" dirty="0"/>
          </a:p>
        </p:txBody>
      </p:sp>
      <p:pic>
        <p:nvPicPr>
          <p:cNvPr id="5" name="图片 4"/>
          <p:cNvPicPr>
            <a:picLocks noChangeAspect="1"/>
          </p:cNvPicPr>
          <p:nvPr/>
        </p:nvPicPr>
        <p:blipFill>
          <a:blip r:embed="rId1"/>
          <a:stretch>
            <a:fillRect/>
          </a:stretch>
        </p:blipFill>
        <p:spPr>
          <a:xfrm>
            <a:off x="900981" y="1987290"/>
            <a:ext cx="10116320" cy="30236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5858256" y="2465523"/>
            <a:ext cx="4831118" cy="4096512"/>
          </a:xfrm>
          <a:prstGeom prst="rect">
            <a:avLst/>
          </a:prstGeom>
        </p:spPr>
      </p:pic>
      <p:sp>
        <p:nvSpPr>
          <p:cNvPr id="7" name="文本框 6"/>
          <p:cNvSpPr txBox="1"/>
          <p:nvPr/>
        </p:nvSpPr>
        <p:spPr>
          <a:xfrm>
            <a:off x="5623560" y="812030"/>
            <a:ext cx="6179126" cy="1477328"/>
          </a:xfrm>
          <a:prstGeom prst="rect">
            <a:avLst/>
          </a:prstGeom>
          <a:noFill/>
        </p:spPr>
        <p:txBody>
          <a:bodyPr wrap="square">
            <a:spAutoFit/>
          </a:bodyPr>
          <a:lstStyle/>
          <a:p>
            <a:r>
              <a:rPr lang="zh-CN" altLang="zh-CN" dirty="0"/>
              <a:t>数据质量问题</a:t>
            </a:r>
            <a:r>
              <a:rPr lang="zh-CN" altLang="en-US" dirty="0"/>
              <a:t>（？）：</a:t>
            </a:r>
            <a:endParaRPr lang="en-US" altLang="zh-CN" dirty="0"/>
          </a:p>
          <a:p>
            <a:r>
              <a:rPr lang="zh-CN" altLang="zh-CN" dirty="0"/>
              <a:t>检查 ROI 是否正常</a:t>
            </a:r>
            <a:endParaRPr lang="en-US" altLang="zh-CN" dirty="0"/>
          </a:p>
          <a:p>
            <a:r>
              <a:rPr lang="zh-CN" altLang="zh-CN" dirty="0"/>
              <a:t>检查图像灰度</a:t>
            </a:r>
            <a:endParaRPr lang="en-US" altLang="zh-CN" dirty="0"/>
          </a:p>
          <a:p>
            <a:r>
              <a:rPr lang="zh-CN" altLang="en-US" dirty="0"/>
              <a:t>看</a:t>
            </a:r>
            <a:r>
              <a:rPr lang="zh-CN" altLang="zh-CN" dirty="0"/>
              <a:t>PyRadiomics </a:t>
            </a:r>
            <a:r>
              <a:rPr lang="zh-CN" altLang="en-US" dirty="0"/>
              <a:t>具体</a:t>
            </a:r>
            <a:r>
              <a:rPr lang="zh-CN" altLang="zh-CN" dirty="0"/>
              <a:t>提</a:t>
            </a:r>
            <a:r>
              <a:rPr lang="zh-CN" altLang="en-US" dirty="0"/>
              <a:t>哪个</a:t>
            </a:r>
            <a:r>
              <a:rPr lang="zh-CN" altLang="zh-CN" dirty="0"/>
              <a:t>特征</a:t>
            </a:r>
            <a:r>
              <a:rPr lang="zh-CN" altLang="en-US" dirty="0"/>
              <a:t>失败</a:t>
            </a:r>
            <a:endParaRPr lang="en-US" altLang="zh-CN" dirty="0"/>
          </a:p>
          <a:p>
            <a:r>
              <a:rPr lang="zh-CN" altLang="zh-CN" dirty="0"/>
              <a:t>检查图像属性</a:t>
            </a:r>
            <a:endParaRPr lang="zh-CN" altLang="en-US" dirty="0"/>
          </a:p>
        </p:txBody>
      </p:sp>
      <p:pic>
        <p:nvPicPr>
          <p:cNvPr id="9" name="图片 8"/>
          <p:cNvPicPr>
            <a:picLocks noChangeAspect="1"/>
          </p:cNvPicPr>
          <p:nvPr/>
        </p:nvPicPr>
        <p:blipFill>
          <a:blip r:embed="rId2"/>
          <a:stretch>
            <a:fillRect/>
          </a:stretch>
        </p:blipFill>
        <p:spPr>
          <a:xfrm>
            <a:off x="625174" y="438912"/>
            <a:ext cx="4403235" cy="61231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860838" y="599814"/>
            <a:ext cx="4523441" cy="2862322"/>
          </a:xfrm>
          <a:prstGeom prst="rect">
            <a:avLst/>
          </a:prstGeom>
          <a:noFill/>
        </p:spPr>
        <p:txBody>
          <a:bodyPr wrap="square">
            <a:spAutoFit/>
          </a:bodyPr>
          <a:lstStyle/>
          <a:p>
            <a:r>
              <a:rPr lang="zh-CN" altLang="zh-CN" dirty="0"/>
              <a:t>BUSI原始PNG经过OpenCV读取后为UInt8整数矩阵。</a:t>
            </a:r>
            <a:endParaRPr lang="en-US" altLang="zh-CN" dirty="0"/>
          </a:p>
          <a:p>
            <a:r>
              <a:rPr lang="zh-CN" altLang="zh-CN" dirty="0"/>
              <a:t>虽然其灰度范围满足0–255要求，但PyRadiomics纹理分析流程假设输入影像为连续强度图。在GLCM构建过程中，UInt8输入</a:t>
            </a:r>
            <a:r>
              <a:rPr lang="zh-CN" altLang="zh-CN" dirty="0">
                <a:highlight>
                  <a:srgbClr val="FFFF00"/>
                </a:highlight>
              </a:rPr>
              <a:t>在部分ROI灰度分布情况下导致灰度离散化和共生矩阵计算异常</a:t>
            </a:r>
            <a:r>
              <a:rPr lang="zh-CN" altLang="zh-CN" dirty="0"/>
              <a:t>。将影像转换为float32后，使输入符合医学影像强度表示方式，从而保证灰度量化和纹理矩阵计算稳定。</a:t>
            </a:r>
            <a:endParaRPr lang="zh-CN" altLang="en-US" dirty="0"/>
          </a:p>
        </p:txBody>
      </p:sp>
      <p:pic>
        <p:nvPicPr>
          <p:cNvPr id="15" name="图片 14"/>
          <p:cNvPicPr>
            <a:picLocks noChangeAspect="1"/>
          </p:cNvPicPr>
          <p:nvPr/>
        </p:nvPicPr>
        <p:blipFill>
          <a:blip r:embed="rId1"/>
          <a:stretch>
            <a:fillRect/>
          </a:stretch>
        </p:blipFill>
        <p:spPr>
          <a:xfrm>
            <a:off x="324305" y="4052518"/>
            <a:ext cx="7091479" cy="2205668"/>
          </a:xfrm>
          <a:prstGeom prst="rect">
            <a:avLst/>
          </a:prstGeom>
        </p:spPr>
      </p:pic>
      <p:grpSp>
        <p:nvGrpSpPr>
          <p:cNvPr id="21" name="组合 20"/>
          <p:cNvGrpSpPr/>
          <p:nvPr/>
        </p:nvGrpSpPr>
        <p:grpSpPr>
          <a:xfrm>
            <a:off x="562049" y="354907"/>
            <a:ext cx="5355783" cy="3523012"/>
            <a:chOff x="468945" y="681228"/>
            <a:chExt cx="5627055" cy="3776472"/>
          </a:xfrm>
        </p:grpSpPr>
        <p:pic>
          <p:nvPicPr>
            <p:cNvPr id="9" name="图片 8"/>
            <p:cNvPicPr/>
            <p:nvPr/>
          </p:nvPicPr>
          <p:blipFill>
            <a:blip r:embed="rId2"/>
            <a:srcRect t="-1757" b="-6221"/>
            <a:stretch>
              <a:fillRect/>
            </a:stretch>
          </p:blipFill>
          <p:spPr>
            <a:xfrm>
              <a:off x="468945" y="681228"/>
              <a:ext cx="5627055" cy="3776472"/>
            </a:xfrm>
            <a:prstGeom prst="rect">
              <a:avLst/>
            </a:prstGeom>
          </p:spPr>
        </p:pic>
        <p:sp>
          <p:nvSpPr>
            <p:cNvPr id="16" name="矩形 15"/>
            <p:cNvSpPr/>
            <p:nvPr/>
          </p:nvSpPr>
          <p:spPr>
            <a:xfrm>
              <a:off x="2523744" y="2237725"/>
              <a:ext cx="1344168" cy="3317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950464" y="1759189"/>
              <a:ext cx="1008888" cy="3317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4523160" y="123443"/>
            <a:ext cx="3145680" cy="66111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7160" y="244086"/>
            <a:ext cx="8238744" cy="461665"/>
          </a:xfrm>
          <a:prstGeom prst="rect">
            <a:avLst/>
          </a:prstGeom>
          <a:noFill/>
        </p:spPr>
        <p:txBody>
          <a:bodyPr wrap="square">
            <a:spAutoFit/>
          </a:bodyPr>
          <a:lstStyle/>
          <a:p>
            <a:r>
              <a:rPr lang="zh-CN" altLang="zh-CN" sz="2400" dirty="0"/>
              <a:t>问题</a:t>
            </a:r>
            <a:r>
              <a:rPr lang="zh-CN" altLang="en-US" sz="2400" dirty="0"/>
              <a:t>三</a:t>
            </a:r>
            <a:r>
              <a:rPr lang="zh-CN" altLang="zh-CN" sz="2400" dirty="0"/>
              <a:t>：</a:t>
            </a:r>
            <a:r>
              <a:rPr lang="zh-CN" altLang="en-US" sz="2400" dirty="0"/>
              <a:t>热力图优化</a:t>
            </a:r>
            <a:endParaRPr lang="zh-CN" altLang="en-US" sz="2400" dirty="0"/>
          </a:p>
        </p:txBody>
      </p:sp>
      <p:pic>
        <p:nvPicPr>
          <p:cNvPr id="4" name="图片 3"/>
          <p:cNvPicPr>
            <a:picLocks noChangeAspect="1"/>
          </p:cNvPicPr>
          <p:nvPr/>
        </p:nvPicPr>
        <p:blipFill>
          <a:blip r:embed="rId1"/>
          <a:stretch>
            <a:fillRect/>
          </a:stretch>
        </p:blipFill>
        <p:spPr>
          <a:xfrm>
            <a:off x="2423160" y="883818"/>
            <a:ext cx="6638544" cy="59741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7190" y="204624"/>
            <a:ext cx="6094476" cy="646331"/>
          </a:xfrm>
          <a:prstGeom prst="rect">
            <a:avLst/>
          </a:prstGeom>
          <a:noFill/>
        </p:spPr>
        <p:txBody>
          <a:bodyPr wrap="square">
            <a:spAutoFit/>
          </a:bodyPr>
          <a:lstStyle/>
          <a:p>
            <a:r>
              <a:rPr lang="zh-CN" altLang="zh-CN" sz="3600" b="0" i="0" dirty="0">
                <a:solidFill>
                  <a:srgbClr val="3B3B3B"/>
                </a:solidFill>
                <a:effectLst/>
                <a:latin typeface="-apple-system"/>
              </a:rPr>
              <a:t>族级聚合</a:t>
            </a:r>
            <a:endParaRPr lang="zh-CN" altLang="en-US" sz="3600" dirty="0"/>
          </a:p>
        </p:txBody>
      </p:sp>
      <p:sp>
        <p:nvSpPr>
          <p:cNvPr id="5" name="文本框 4"/>
          <p:cNvSpPr txBox="1"/>
          <p:nvPr/>
        </p:nvSpPr>
        <p:spPr>
          <a:xfrm>
            <a:off x="2782062" y="450845"/>
            <a:ext cx="7157466" cy="400110"/>
          </a:xfrm>
          <a:prstGeom prst="rect">
            <a:avLst/>
          </a:prstGeom>
          <a:noFill/>
        </p:spPr>
        <p:txBody>
          <a:bodyPr wrap="square">
            <a:spAutoFit/>
          </a:bodyPr>
          <a:lstStyle/>
          <a:p>
            <a:r>
              <a:rPr lang="zh-CN" altLang="zh-CN" sz="2000" b="0" i="0" dirty="0">
                <a:solidFill>
                  <a:srgbClr val="3B3B3B"/>
                </a:solidFill>
                <a:effectLst/>
                <a:latin typeface="-apple-system"/>
              </a:rPr>
              <a:t>radiomics 特征天然属于 7 个数学意义完全不同的特征族</a:t>
            </a:r>
            <a:endParaRPr lang="zh-CN" altLang="en-US" sz="2000" dirty="0"/>
          </a:p>
        </p:txBody>
      </p:sp>
      <p:pic>
        <p:nvPicPr>
          <p:cNvPr id="7" name="图片 6"/>
          <p:cNvPicPr>
            <a:picLocks noChangeAspect="1"/>
          </p:cNvPicPr>
          <p:nvPr/>
        </p:nvPicPr>
        <p:blipFill>
          <a:blip r:embed="rId1"/>
          <a:stretch>
            <a:fillRect/>
          </a:stretch>
        </p:blipFill>
        <p:spPr>
          <a:xfrm>
            <a:off x="295022" y="1865368"/>
            <a:ext cx="4363269" cy="3918653"/>
          </a:xfrm>
          <a:prstGeom prst="rect">
            <a:avLst/>
          </a:prstGeom>
        </p:spPr>
      </p:pic>
      <p:pic>
        <p:nvPicPr>
          <p:cNvPr id="9" name="图片 8"/>
          <p:cNvPicPr>
            <a:picLocks noChangeAspect="1"/>
          </p:cNvPicPr>
          <p:nvPr/>
        </p:nvPicPr>
        <p:blipFill>
          <a:blip r:embed="rId2"/>
          <a:stretch>
            <a:fillRect/>
          </a:stretch>
        </p:blipFill>
        <p:spPr>
          <a:xfrm>
            <a:off x="4985699" y="850955"/>
            <a:ext cx="5691674" cy="2973740"/>
          </a:xfrm>
          <a:prstGeom prst="rect">
            <a:avLst/>
          </a:prstGeom>
        </p:spPr>
      </p:pic>
      <p:pic>
        <p:nvPicPr>
          <p:cNvPr id="11" name="图片 10"/>
          <p:cNvPicPr>
            <a:picLocks noChangeAspect="1"/>
          </p:cNvPicPr>
          <p:nvPr/>
        </p:nvPicPr>
        <p:blipFill>
          <a:blip r:embed="rId3"/>
          <a:stretch>
            <a:fillRect/>
          </a:stretch>
        </p:blipFill>
        <p:spPr>
          <a:xfrm>
            <a:off x="4985699" y="3884260"/>
            <a:ext cx="5716306" cy="297374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747</Words>
  <Application>WPS 演示</Application>
  <PresentationFormat>宽屏</PresentationFormat>
  <Paragraphs>35</Paragraphs>
  <Slides>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vt:i4>
      </vt:variant>
    </vt:vector>
  </HeadingPairs>
  <TitlesOfParts>
    <vt:vector size="21" baseType="lpstr">
      <vt:lpstr>Arial</vt:lpstr>
      <vt:lpstr>宋体</vt:lpstr>
      <vt:lpstr>Wingdings</vt:lpstr>
      <vt:lpstr>Times New Roman</vt:lpstr>
      <vt:lpstr>-apple-system</vt:lpstr>
      <vt:lpstr>Segoe Print</vt:lpstr>
      <vt:lpstr>等线</vt:lpstr>
      <vt:lpstr>微软雅黑</vt:lpstr>
      <vt:lpstr>Arial Unicode MS</vt:lpstr>
      <vt:lpstr>等线 Light</vt:lpstr>
      <vt:lpstr>Calibri</vt:lpstr>
      <vt:lpstr>-apple-system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ds xu</dc:creator>
  <cp:lastModifiedBy>草莓</cp:lastModifiedBy>
  <cp:revision>6</cp:revision>
  <dcterms:created xsi:type="dcterms:W3CDTF">2026-07-24T23:56:00Z</dcterms:created>
  <dcterms:modified xsi:type="dcterms:W3CDTF">2026-07-27T07:52:33Z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BE7BAEE5F42F4ADD843A344866E13297_12</vt:lpwstr>
  </property>
</Properties>
</file>